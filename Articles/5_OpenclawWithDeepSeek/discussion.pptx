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ECCB-2A28-E624-D3F5-2868E2783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B0B72-A49E-7DD5-BCC2-D5A81F7F0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24CCD-CC41-257B-1861-C34C6D59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BEA27-98A5-097F-50C0-D81950B02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C0A13-E796-FFC4-A6F5-5EE7EC9D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109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8333-76FB-50E7-5DAA-94DD822F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BFBAC-B8B1-1BE5-B63F-28A58CF0C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34D23-3E06-8EA6-B7CC-D8C301D8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BD5B-7867-2227-DE78-C09CB62B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704CB-550D-67D3-557F-D856FBBF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4123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6A63-3C4F-10D0-E058-F8BE4514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D3A6-F2EB-CFD7-3A28-B68B95D07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EE469-42B8-DD68-EA65-19F14F58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318AC-9A07-0099-ADFD-507535A0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B70EA-098A-D854-CDB2-7BCBB7C4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38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804A-B283-353D-42E8-3319D4B56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3CCE-0BB7-160A-4A6D-852348C14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71977-8D5C-92AA-FD13-180A0AEFF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BB779-816B-2D18-D35D-6514A994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25321-FACE-0B30-B209-24081F39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69A50-52FA-8E4E-0D19-53461ABC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118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67C2-C4A1-B01B-887B-EF64299F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2A689-7D65-46FF-45CB-1EB0A583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09BE8-01FC-6C08-3EF6-3ED0793BE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1844BA-41BE-7A35-3F36-19A1E2410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2F238-516C-7B15-AA61-570604DC8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20893-33C3-CDEA-94DC-3334BCB3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BEB02-0AA3-AFF3-F0FF-2A3C9004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03F22-AB5A-3942-5256-49328A4A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5624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0F4A-44B6-27D3-1E07-58D1FC7D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C38EC-7BD9-E7D8-14EA-87EB78B1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2FD1E-8853-F822-6245-A1C780B4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B538-4C62-D495-54DF-3EAB39BC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885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055E9-3418-5FDC-6DBA-78DF0ACAA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73719-7C3C-6835-E7CC-2E19A1CF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63B11-FBB9-C8EA-77A8-BA878C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509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2ACC-CD81-502B-502E-D42E8DFA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3D0A-3DD4-3F17-3F83-773E9935A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A4DF8-76C9-68B7-0CF8-254A728C4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54FCC-4160-6569-2417-E02CCB8D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FC09E-3D30-22CB-56F9-C87D18DA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D1899-D8B6-3A08-F71C-33A7BD72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884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C844-3F6F-9FE1-3877-4137185B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2CF73-E11F-BBCE-5DF0-54633FA65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43432-F8B6-694B-1D47-F003D9DAD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188A7-B0FA-3BC0-94F6-086387E8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EA3D-AE77-909B-3B3B-67AE16FD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E078-E195-B8C7-3F52-17B10ED0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296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F5E5-AC82-26DA-51B2-5C19C60E8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1303-135C-3383-845F-66B17BAE7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25C35-2444-3270-55B6-6514692C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CA572-807D-440C-AE4E-BE636C077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061C8-C9F7-3E4A-AF31-A1FE2524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712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112164-841C-630D-8295-44CDF9798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48E0E-EE74-8248-DCEE-EAFFAB5CA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DC7F-9728-EB62-387A-D6781449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A0EA0-D618-F2C2-871B-EF2FFD44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72362-6914-FC94-8BDC-BFE43E51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95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E0F4D-EA90-42CF-BA2E-AC2DA95F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F072C-B599-C857-C216-0385CD66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5B98D-7423-41FF-B98F-3AE440B78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051FD-D742-4BCA-B796-301DDE9C15D8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FC71D-2997-B910-5D68-EC1286907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DC401-985B-6079-41F0-30507AB64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CF3AE-309F-42C0-9F6D-ADF5964798A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232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69F9-3308-96E7-9E87-20BECC71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C3C6260D-08FE-6137-1751-CA7BD5A6CC1D}"/>
              </a:ext>
            </a:extLst>
          </p:cNvPr>
          <p:cNvSpPr txBox="1"/>
          <p:nvPr/>
        </p:nvSpPr>
        <p:spPr>
          <a:xfrm>
            <a:off x="1" y="0"/>
            <a:ext cx="12191999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</a:rPr>
              <a:t>Discussion about setup </a:t>
            </a:r>
            <a:r>
              <a:rPr lang="en-US" sz="2400" b="1" dirty="0" err="1">
                <a:solidFill>
                  <a:schemeClr val="bg1"/>
                </a:solidFill>
              </a:rPr>
              <a:t>OpenClaw</a:t>
            </a:r>
            <a:r>
              <a:rPr lang="en-US" sz="2400" b="1" dirty="0">
                <a:solidFill>
                  <a:schemeClr val="bg1"/>
                </a:solidFill>
              </a:rPr>
              <a:t> cluster with local GPU 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96E2F-73CF-BF40-B540-C7D37B9FEE0C}"/>
              </a:ext>
            </a:extLst>
          </p:cNvPr>
          <p:cNvSpPr txBox="1"/>
          <p:nvPr/>
        </p:nvSpPr>
        <p:spPr>
          <a:xfrm>
            <a:off x="330986" y="787619"/>
            <a:ext cx="943695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Why we want to setup a local GPU </a:t>
            </a:r>
            <a:r>
              <a:rPr lang="en-US" sz="2800" b="1" dirty="0" err="1"/>
              <a:t>OpenClaw</a:t>
            </a:r>
            <a:r>
              <a:rPr lang="en-US" sz="2800" b="1" dirty="0"/>
              <a:t> Cluster?</a:t>
            </a:r>
          </a:p>
          <a:p>
            <a:r>
              <a:rPr lang="en-US" sz="2800" b="1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Token Usage problem.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Online LLM model downgrade based on user’s question.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Security reason.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(AI </a:t>
            </a:r>
            <a:r>
              <a:rPr lang="en-SG" sz="2000" b="1" dirty="0"/>
              <a:t>Generative Engine Optimization</a:t>
            </a:r>
            <a:r>
              <a:rPr lang="en-US" sz="2000" b="1" dirty="0"/>
              <a:t>) GEO poisoning.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Information leakage from the API call.</a:t>
            </a:r>
          </a:p>
          <a:p>
            <a:endParaRPr lang="en-US" sz="2000" b="1" dirty="0"/>
          </a:p>
          <a:p>
            <a:r>
              <a:rPr lang="en-US" sz="2000" b="1" dirty="0"/>
              <a:t>What is current NCL service for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GPU servers.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Opensource LLM API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OpenClaw</a:t>
            </a:r>
            <a:r>
              <a:rPr lang="en-US" sz="2000" b="1" dirty="0"/>
              <a:t> sandbox VM.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Other solution </a:t>
            </a:r>
          </a:p>
        </p:txBody>
      </p:sp>
    </p:spTree>
    <p:extLst>
      <p:ext uri="{BB962C8B-B14F-4D97-AF65-F5344CB8AC3E}">
        <p14:creationId xmlns:p14="http://schemas.microsoft.com/office/powerpoint/2010/main" val="240213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5CDB8113-3893-8CFF-CB4F-966558BB81FA}"/>
              </a:ext>
            </a:extLst>
          </p:cNvPr>
          <p:cNvSpPr txBox="1"/>
          <p:nvPr/>
        </p:nvSpPr>
        <p:spPr>
          <a:xfrm>
            <a:off x="1" y="0"/>
            <a:ext cx="12191999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</a:rPr>
              <a:t>Discussion about setup </a:t>
            </a:r>
            <a:r>
              <a:rPr lang="en-US" sz="2400" b="1" dirty="0" err="1">
                <a:solidFill>
                  <a:schemeClr val="bg1"/>
                </a:solidFill>
              </a:rPr>
              <a:t>OpenClaw</a:t>
            </a:r>
            <a:r>
              <a:rPr lang="en-US" sz="2400" b="1" dirty="0">
                <a:solidFill>
                  <a:schemeClr val="bg1"/>
                </a:solidFill>
              </a:rPr>
              <a:t> cluster with local GPU 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9ACEE-B114-A82A-B932-6F0BE90C0C82}"/>
              </a:ext>
            </a:extLst>
          </p:cNvPr>
          <p:cNvSpPr txBox="1"/>
          <p:nvPr/>
        </p:nvSpPr>
        <p:spPr>
          <a:xfrm>
            <a:off x="419549" y="766639"/>
            <a:ext cx="11861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OpenClaw</a:t>
            </a:r>
            <a:r>
              <a:rPr lang="en-US" b="1" dirty="0"/>
              <a:t> token usage compare with normal AI agent</a:t>
            </a:r>
          </a:p>
          <a:p>
            <a:r>
              <a:rPr lang="en-US" dirty="0"/>
              <a:t>While a normal chat agent might use a few hundred tokens, a single active </a:t>
            </a:r>
            <a:r>
              <a:rPr lang="en-US" dirty="0" err="1"/>
              <a:t>OpenClaw</a:t>
            </a:r>
            <a:r>
              <a:rPr lang="en-US" dirty="0"/>
              <a:t> instance can consume tens or hundreds of times more, with one user reporting up to 150,000 tokens per single exchange.</a:t>
            </a: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68D08F-A5A8-A72C-3DAC-FE0D3F072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49" y="1994944"/>
            <a:ext cx="8466267" cy="461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9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2EBF-904D-E579-B9C0-404FB3A4F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08217D72-6093-8EFF-398A-F08148343999}"/>
              </a:ext>
            </a:extLst>
          </p:cNvPr>
          <p:cNvSpPr txBox="1"/>
          <p:nvPr/>
        </p:nvSpPr>
        <p:spPr>
          <a:xfrm>
            <a:off x="1" y="0"/>
            <a:ext cx="12191999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</a:rPr>
              <a:t>Discussion about setup </a:t>
            </a:r>
            <a:r>
              <a:rPr lang="en-US" sz="2400" b="1" dirty="0" err="1">
                <a:solidFill>
                  <a:schemeClr val="bg1"/>
                </a:solidFill>
              </a:rPr>
              <a:t>OpenClaw</a:t>
            </a:r>
            <a:r>
              <a:rPr lang="en-US" sz="2400" b="1" dirty="0">
                <a:solidFill>
                  <a:schemeClr val="bg1"/>
                </a:solidFill>
              </a:rPr>
              <a:t> cluster with local GPU 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AD08E-0730-E0AB-7E36-530111F5974B}"/>
              </a:ext>
            </a:extLst>
          </p:cNvPr>
          <p:cNvSpPr txBox="1"/>
          <p:nvPr/>
        </p:nvSpPr>
        <p:spPr>
          <a:xfrm>
            <a:off x="330986" y="674849"/>
            <a:ext cx="105987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AI Agent From Model Context Protocol (MCP) to Skills </a:t>
            </a:r>
          </a:p>
          <a:p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1A3F12-1D53-7EDB-3211-AA4854CCD658}"/>
              </a:ext>
            </a:extLst>
          </p:cNvPr>
          <p:cNvSpPr txBox="1"/>
          <p:nvPr/>
        </p:nvSpPr>
        <p:spPr>
          <a:xfrm>
            <a:off x="526416" y="6070381"/>
            <a:ext cx="744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Skill Architecture Agent: re-build the wheels (</a:t>
            </a:r>
            <a:r>
              <a:rPr lang="zh-CN" altLang="en-US" sz="2000" b="1" dirty="0"/>
              <a:t>“養” 龍蝦</a:t>
            </a:r>
            <a:r>
              <a:rPr lang="en-US" sz="2000" b="1" dirty="0"/>
              <a:t>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54DCA-BC20-76FF-4631-2409B9A67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34"/>
          <a:stretch>
            <a:fillRect/>
          </a:stretch>
        </p:blipFill>
        <p:spPr>
          <a:xfrm>
            <a:off x="330986" y="1157883"/>
            <a:ext cx="9912914" cy="478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8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A2F7E-3971-510F-1975-854ECC77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3BAD5C99-35D0-54B2-0D4D-AD9430028B66}"/>
              </a:ext>
            </a:extLst>
          </p:cNvPr>
          <p:cNvSpPr txBox="1"/>
          <p:nvPr/>
        </p:nvSpPr>
        <p:spPr>
          <a:xfrm>
            <a:off x="1" y="0"/>
            <a:ext cx="12191999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</a:rPr>
              <a:t>Discussion about setup </a:t>
            </a:r>
            <a:r>
              <a:rPr lang="en-US" sz="2400" b="1" dirty="0" err="1">
                <a:solidFill>
                  <a:schemeClr val="bg1"/>
                </a:solidFill>
              </a:rPr>
              <a:t>OpenClaw</a:t>
            </a:r>
            <a:r>
              <a:rPr lang="en-US" sz="2400" b="1" dirty="0">
                <a:solidFill>
                  <a:schemeClr val="bg1"/>
                </a:solidFill>
              </a:rPr>
              <a:t> cluster with local GPU </a:t>
            </a:r>
            <a:endParaRPr lang="en-SG" sz="24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9DD1A-DCCF-04C1-1704-059288FFF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49" y="461664"/>
            <a:ext cx="10741693" cy="607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1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167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16</cp:revision>
  <dcterms:created xsi:type="dcterms:W3CDTF">2026-03-24T01:06:05Z</dcterms:created>
  <dcterms:modified xsi:type="dcterms:W3CDTF">2026-03-24T02:56:08Z</dcterms:modified>
</cp:coreProperties>
</file>