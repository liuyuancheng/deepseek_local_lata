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7CF5F-CA5D-4CC3-AFB2-C100E3D4BFD0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3BBB4-C4FE-47A6-B9D4-00C7D602B0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2329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3BBB4-C4FE-47A6-B9D4-00C7D602B05D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3477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8BA0-8F16-88E0-2E5B-C1A720168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4DEEB-518E-C218-8E14-CF79935CA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8B62F-E10C-3CC0-F861-69101702F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E1F32-4FD6-E9DB-FC07-1BA0693D7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65E86-BF1A-04EA-1CDC-DFAFEE04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211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70531-D566-3824-6BFF-78CA0E6C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4429-BB31-F92B-9539-03450A8EE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9B731-57C0-93D4-644D-7B87BB74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C6B58-D835-5826-7EC5-C92C2C38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44441-7AE0-0580-93D0-CD280CB8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585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0A98-CE39-9354-8C7A-0283B2D6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91D00-0752-AAB5-E481-6DB818EF6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B6E8-E327-0FE6-5C6C-2E3013BC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28DF2-3DF1-D5E4-BAB6-8ED3C1129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73536-7FA7-0790-1DAF-8D0C8CFC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579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4C701-8BCC-13EF-12B1-8EE9F843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A26CC-6771-2C04-623D-FF8275AFB2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6524A-D538-C513-CD7A-71A01BEAE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965AA-2633-178B-1D63-94CCB2C9C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13EF8-864D-D238-DD7C-EC0B8B5B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512C6-DD37-9EFD-5DCE-400D0B42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435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8EBF-B6ED-1326-29F3-714E4B3DF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EC36E-9822-7716-FE04-9EC4B8A90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BF83A5-7D74-7340-29EB-ED003AB40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B8349-5D28-3546-84FA-6C068BB84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6D3B8-2464-85AC-0675-86A1E80BA0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A47EE2-8408-2A81-247B-A2434358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4CDCE-8AA2-7CF7-055A-4FB61B4F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617549-E5D0-526A-3086-4978BC19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641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A8B6-A0CE-CC8D-81E3-499DDFF6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9C1F7-3848-88DB-A729-F324B779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185D8-BB6D-6D51-4A07-0B16916BA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BC845-D90F-699A-D8E5-8B64A088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1439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EAF3F-09B9-52F6-51A8-C1BFE4AF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123FA9-1CE2-29E7-2850-1AD7A99B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315F4-F53B-334B-68E7-209CE1558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660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47DA-8F01-4C49-D723-FE90A33B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89E3B-9065-352E-D6AC-B74F34C9D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818A4-0534-AD17-FB14-7C90C6863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7331-8DC0-41EC-92AA-E47711AA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231CE-F5EE-6847-9ACD-8BD55242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B5A33-AE4E-8C87-61A7-2E142592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0471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AC6B-404F-9D0C-D94A-6A5EF98B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3BF28E-576C-0D3A-C213-924A9A101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F31C0-FBD9-6EA5-2FD1-0713555A0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55708-3ADC-A59D-BBC3-2E4B852AA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B5C08-1290-429C-0BDC-C69C6D1B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FF60A-F2FC-4429-9D57-CD4541A8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5139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57BF-2A3F-A030-795C-BFA21ADA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764D48-99BB-5B22-9CFC-66651B47A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D9F8A-80C3-E8A4-9347-14CB67557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BDECA-5107-37E5-12C3-3E5E5B606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BE29B-B1BA-C4A7-985A-E03C32B8E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0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520B5-5063-EAD5-BB99-693CC7A740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DB8B8-B48C-9F1D-1A52-B125907F0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9FC0C-C4A7-AAC8-D47F-AE5301171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4F831-549E-1FA8-A002-D45C377EE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9A023-EE64-2A86-9B58-A680E6D7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575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6BB336-A523-9F56-0739-A62EC4FE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E9077-7051-AAA6-2FF0-FADBDB1C5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043FF-1604-8B72-CA6E-BB04BE18E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EA1B8F-E5B4-4E7F-AEC3-929E37D0EBCF}" type="datetimeFigureOut">
              <a:rPr lang="en-SG" smtClean="0"/>
              <a:t>13/3/2026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5566A-A51C-4ACC-D921-5B55E9261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6F121-09D0-FB4C-1DA4-ED1CB0B0D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61526-DE79-4FC3-BAFD-4791570E69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9160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png"/><Relationship Id="rId15" Type="http://schemas.openxmlformats.org/officeDocument/2006/relationships/image" Target="../media/image20.sv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42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7F6081-8FCA-36BF-0032-38C654414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8" y="643467"/>
            <a:ext cx="2713044" cy="247565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DD7E66-C278-71EA-2EBE-EC0007859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905" y="650497"/>
            <a:ext cx="2990445" cy="246862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AB3CA5-6F9C-D493-4EFD-B3402D60C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518" y="969930"/>
            <a:ext cx="3252903" cy="182975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4822EF-6717-E34F-E369-A48418C08B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84" y="3748194"/>
            <a:ext cx="2548073" cy="247163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9FE375-3674-4B26-B67B-30AFAF78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3610700"/>
            <a:ext cx="3588171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6FFE86-491F-FF74-7C35-5C3603478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537" y="3755224"/>
            <a:ext cx="3217333" cy="124671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83AE05-7F87-B72E-7F80-B914A5DA9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666" y="4984009"/>
            <a:ext cx="2999074" cy="12671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EED8AD-9DCC-04F9-FDE6-86E101AF7C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3518" y="3755224"/>
            <a:ext cx="3198617" cy="253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16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B9D1-6D2B-1698-1D5D-99058DC65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B365960-D5C5-3372-63D5-44D9FC059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5" y="986745"/>
            <a:ext cx="3152052" cy="260203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E6BAED-7A4E-C724-6FD1-B506CDF8A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5" y="3895587"/>
            <a:ext cx="3152052" cy="1773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565178-93A8-B7D3-FB55-07A882CE2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489" y="986746"/>
            <a:ext cx="3281524" cy="29978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F08153F-0F82-4C75-692B-88B009B10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489" y="3984595"/>
            <a:ext cx="4264750" cy="16478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F735D0-1DF0-B92E-6A3E-E21FFE5919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238" y="986745"/>
            <a:ext cx="3094149" cy="29978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F4903E-B29D-7367-C514-240E30B37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289" y="4449957"/>
            <a:ext cx="2430607" cy="102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4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1CD9592C-F99C-5F17-9C30-9C5EA18CC5CE}"/>
              </a:ext>
            </a:extLst>
          </p:cNvPr>
          <p:cNvSpPr/>
          <p:nvPr/>
        </p:nvSpPr>
        <p:spPr>
          <a:xfrm>
            <a:off x="779646" y="1222408"/>
            <a:ext cx="6814687" cy="437949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02BAB0-98D4-F006-9063-2DFBB019C993}"/>
              </a:ext>
            </a:extLst>
          </p:cNvPr>
          <p:cNvSpPr/>
          <p:nvPr/>
        </p:nvSpPr>
        <p:spPr>
          <a:xfrm>
            <a:off x="1150799" y="2861946"/>
            <a:ext cx="2287802" cy="178408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93BB9-E884-60AE-4D75-D47CFB26C11C}"/>
              </a:ext>
            </a:extLst>
          </p:cNvPr>
          <p:cNvSpPr/>
          <p:nvPr/>
        </p:nvSpPr>
        <p:spPr>
          <a:xfrm>
            <a:off x="1019908" y="1736902"/>
            <a:ext cx="2945700" cy="32297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6" name="Picture 2" descr="DeepSeek Logo and symbol, meaning ...">
            <a:extLst>
              <a:ext uri="{FF2B5EF4-FFF2-40B4-BE49-F238E27FC236}">
                <a16:creationId xmlns:a16="http://schemas.microsoft.com/office/drawing/2014/main" id="{6BE63F29-9723-C50F-A071-BEF6C15A4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5" b="19385"/>
          <a:stretch/>
        </p:blipFill>
        <p:spPr bwMode="auto">
          <a:xfrm>
            <a:off x="1276207" y="3799734"/>
            <a:ext cx="1519097" cy="534829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un DeepSeek-R1 Locally for Free in Just 3 Minutes! - DEV Community">
            <a:extLst>
              <a:ext uri="{FF2B5EF4-FFF2-40B4-BE49-F238E27FC236}">
                <a16:creationId xmlns:a16="http://schemas.microsoft.com/office/drawing/2014/main" id="{9D8636EF-5C3B-C9B9-0839-968C99677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3238" y="2206244"/>
            <a:ext cx="1378868" cy="514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C9F04B9-88FC-7726-F779-0F2A6CB87E3D}"/>
              </a:ext>
            </a:extLst>
          </p:cNvPr>
          <p:cNvSpPr txBox="1"/>
          <p:nvPr/>
        </p:nvSpPr>
        <p:spPr>
          <a:xfrm>
            <a:off x="1180733" y="4351799"/>
            <a:ext cx="2324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deepseek-r1-tool-calling:14b </a:t>
            </a:r>
            <a:endParaRPr lang="en-SG" sz="1200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BF3DF9-EC15-C0B8-E574-1A8F4830E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203" y="2206244"/>
            <a:ext cx="561512" cy="5580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668883-D7E5-A114-5515-2F0B4FABFE28}"/>
              </a:ext>
            </a:extLst>
          </p:cNvPr>
          <p:cNvSpPr txBox="1"/>
          <p:nvPr/>
        </p:nvSpPr>
        <p:spPr>
          <a:xfrm>
            <a:off x="940303" y="1787005"/>
            <a:ext cx="31467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GPU Server or A Gaming Laptop </a:t>
            </a:r>
            <a:endParaRPr lang="en-SG" sz="16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678BE1-A813-A436-945F-01741597A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6169" y="3005434"/>
            <a:ext cx="368410" cy="3613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ABF061-C942-D852-33FB-ABF513DDF4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027" y="2978193"/>
            <a:ext cx="1519097" cy="55313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7A49B0-D22C-D6BD-F3B9-FB70EB8B8DE5}"/>
              </a:ext>
            </a:extLst>
          </p:cNvPr>
          <p:cNvSpPr txBox="1"/>
          <p:nvPr/>
        </p:nvSpPr>
        <p:spPr>
          <a:xfrm>
            <a:off x="1210667" y="3553420"/>
            <a:ext cx="23243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deepseek-r1-tool-calling:14b </a:t>
            </a:r>
            <a:endParaRPr lang="en-SG" sz="12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4A8DE0-7B07-90AB-C6BD-6B4331F61A9A}"/>
              </a:ext>
            </a:extLst>
          </p:cNvPr>
          <p:cNvSpPr txBox="1"/>
          <p:nvPr/>
        </p:nvSpPr>
        <p:spPr>
          <a:xfrm>
            <a:off x="3667572" y="3429000"/>
            <a:ext cx="8216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Port:22</a:t>
            </a:r>
            <a:endParaRPr lang="en-SG" sz="1400" b="1" dirty="0">
              <a:solidFill>
                <a:schemeClr val="accent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284230-396C-2278-5F7F-D80A012E52BA}"/>
              </a:ext>
            </a:extLst>
          </p:cNvPr>
          <p:cNvSpPr/>
          <p:nvPr/>
        </p:nvSpPr>
        <p:spPr>
          <a:xfrm>
            <a:off x="3301465" y="3975234"/>
            <a:ext cx="262544" cy="27699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62F2BA5-DD1A-E6BE-0BA4-D983EA0AEA24}"/>
              </a:ext>
            </a:extLst>
          </p:cNvPr>
          <p:cNvCxnSpPr>
            <a:stCxn id="29" idx="3"/>
            <a:endCxn id="15" idx="1"/>
          </p:cNvCxnSpPr>
          <p:nvPr/>
        </p:nvCxnSpPr>
        <p:spPr>
          <a:xfrm flipV="1">
            <a:off x="3564009" y="3186097"/>
            <a:ext cx="262160" cy="9276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BBA7D10-E73E-932A-2B7F-5E0E50DE3308}"/>
              </a:ext>
            </a:extLst>
          </p:cNvPr>
          <p:cNvSpPr txBox="1"/>
          <p:nvPr/>
        </p:nvSpPr>
        <p:spPr>
          <a:xfrm>
            <a:off x="1480244" y="4673889"/>
            <a:ext cx="2699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Ollama localhost port 11434 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54C959A-998D-1EC8-F43A-5C6483E51F6E}"/>
              </a:ext>
            </a:extLst>
          </p:cNvPr>
          <p:cNvCxnSpPr/>
          <p:nvPr/>
        </p:nvCxnSpPr>
        <p:spPr>
          <a:xfrm flipV="1">
            <a:off x="3564009" y="4351799"/>
            <a:ext cx="0" cy="322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B8A9578-9624-8D17-4AE0-69B9CA2B4A25}"/>
              </a:ext>
            </a:extLst>
          </p:cNvPr>
          <p:cNvCxnSpPr>
            <a:stCxn id="15" idx="3"/>
          </p:cNvCxnSpPr>
          <p:nvPr/>
        </p:nvCxnSpPr>
        <p:spPr>
          <a:xfrm flipV="1">
            <a:off x="4194579" y="3186096"/>
            <a:ext cx="945312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572D62A7-0573-DAFF-3A66-08158A65EC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9891" y="2920673"/>
            <a:ext cx="890533" cy="75123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5B47C1E-9541-36F2-0013-47DC645901AC}"/>
              </a:ext>
            </a:extLst>
          </p:cNvPr>
          <p:cNvSpPr txBox="1"/>
          <p:nvPr/>
        </p:nvSpPr>
        <p:spPr>
          <a:xfrm>
            <a:off x="4362538" y="2613050"/>
            <a:ext cx="1667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Ethernet Router or Switch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DA7419-251C-9BC4-F95A-14B5DD0FDB13}"/>
              </a:ext>
            </a:extLst>
          </p:cNvPr>
          <p:cNvSpPr/>
          <p:nvPr/>
        </p:nvSpPr>
        <p:spPr>
          <a:xfrm>
            <a:off x="5139891" y="4113734"/>
            <a:ext cx="1940574" cy="13534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4A836C-34B3-9172-3E85-4F8C08BD9618}"/>
              </a:ext>
            </a:extLst>
          </p:cNvPr>
          <p:cNvSpPr txBox="1"/>
          <p:nvPr/>
        </p:nvSpPr>
        <p:spPr>
          <a:xfrm>
            <a:off x="5722011" y="3695348"/>
            <a:ext cx="18723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Internal network User’s compute server 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CB5AD96-1645-FB6F-4D98-7FB8864934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6739" y="4573363"/>
            <a:ext cx="1332727" cy="61695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5C9EAB1-AB3C-2B24-9539-F1A63242A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6289" y="4042001"/>
            <a:ext cx="345194" cy="338555"/>
          </a:xfrm>
          <a:prstGeom prst="rect">
            <a:avLst/>
          </a:prstGeom>
        </p:spPr>
      </p:pic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B16D34-BBB3-CE21-53E5-E28A11ACA69D}"/>
              </a:ext>
            </a:extLst>
          </p:cNvPr>
          <p:cNvCxnSpPr>
            <a:cxnSpLocks/>
            <a:stCxn id="38" idx="2"/>
            <a:endCxn id="44" idx="0"/>
          </p:cNvCxnSpPr>
          <p:nvPr/>
        </p:nvCxnSpPr>
        <p:spPr>
          <a:xfrm>
            <a:off x="5585158" y="3671904"/>
            <a:ext cx="3728" cy="370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DABAEDA-D314-47D4-5FEB-A2C01D74F7E1}"/>
              </a:ext>
            </a:extLst>
          </p:cNvPr>
          <p:cNvCxnSpPr>
            <a:cxnSpLocks/>
            <a:stCxn id="44" idx="3"/>
            <a:endCxn id="43" idx="3"/>
          </p:cNvCxnSpPr>
          <p:nvPr/>
        </p:nvCxnSpPr>
        <p:spPr>
          <a:xfrm>
            <a:off x="5761483" y="4211279"/>
            <a:ext cx="787983" cy="670561"/>
          </a:xfrm>
          <a:prstGeom prst="bentConnector3">
            <a:avLst>
              <a:gd name="adj1" fmla="val 1290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D313020-4215-7ED2-7872-5B02038C46E8}"/>
              </a:ext>
            </a:extLst>
          </p:cNvPr>
          <p:cNvSpPr txBox="1"/>
          <p:nvPr/>
        </p:nvSpPr>
        <p:spPr>
          <a:xfrm>
            <a:off x="5741782" y="4188567"/>
            <a:ext cx="13774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100" b="1" dirty="0"/>
              <a:t>Forward port 11434 to localhost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E05B9A-804A-1297-9EC5-BE84FB77DA55}"/>
              </a:ext>
            </a:extLst>
          </p:cNvPr>
          <p:cNvSpPr txBox="1"/>
          <p:nvPr/>
        </p:nvSpPr>
        <p:spPr>
          <a:xfrm>
            <a:off x="5139891" y="5174845"/>
            <a:ext cx="16014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 err="1"/>
              <a:t>OpenClaw</a:t>
            </a:r>
            <a:r>
              <a:rPr lang="en-SG" sz="1400" b="1" dirty="0"/>
              <a:t> Agent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9BED5D3-76CC-88C6-5C12-1EEA7A196C44}"/>
              </a:ext>
            </a:extLst>
          </p:cNvPr>
          <p:cNvSpPr/>
          <p:nvPr/>
        </p:nvSpPr>
        <p:spPr>
          <a:xfrm>
            <a:off x="7053085" y="2920673"/>
            <a:ext cx="1193778" cy="7465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C49C16D-616E-CAC9-ECD2-1A1E826E9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186" y="3085376"/>
            <a:ext cx="368410" cy="361325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2560C64-BACF-F01F-6BDD-878A8EDAE2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26" y="3074097"/>
            <a:ext cx="368410" cy="361325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28D9777-571A-B8F9-168C-C12E0D6FD04E}"/>
              </a:ext>
            </a:extLst>
          </p:cNvPr>
          <p:cNvCxnSpPr>
            <a:cxnSpLocks/>
            <a:stCxn id="38" idx="3"/>
            <a:endCxn id="59" idx="1"/>
          </p:cNvCxnSpPr>
          <p:nvPr/>
        </p:nvCxnSpPr>
        <p:spPr>
          <a:xfrm flipV="1">
            <a:off x="6030424" y="3266039"/>
            <a:ext cx="8277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D47FD01B-0509-9391-5002-884B37719B37}"/>
              </a:ext>
            </a:extLst>
          </p:cNvPr>
          <p:cNvSpPr txBox="1"/>
          <p:nvPr/>
        </p:nvSpPr>
        <p:spPr>
          <a:xfrm>
            <a:off x="7100279" y="2216746"/>
            <a:ext cx="114592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/>
              <a:t>Gateway or Jump host or firewall</a:t>
            </a:r>
          </a:p>
        </p:txBody>
      </p:sp>
      <p:pic>
        <p:nvPicPr>
          <p:cNvPr id="68" name="Graphic 67" descr="Server with solid fill">
            <a:extLst>
              <a:ext uri="{FF2B5EF4-FFF2-40B4-BE49-F238E27FC236}">
                <a16:creationId xmlns:a16="http://schemas.microsoft.com/office/drawing/2014/main" id="{A0DFEF42-E886-B898-8696-076B0A08D4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357629" y="3044790"/>
            <a:ext cx="538098" cy="538098"/>
          </a:xfrm>
          <a:prstGeom prst="rect">
            <a:avLst/>
          </a:prstGeom>
        </p:spPr>
      </p:pic>
      <p:pic>
        <p:nvPicPr>
          <p:cNvPr id="70" name="Graphic 69" descr="Laptop with solid fill">
            <a:extLst>
              <a:ext uri="{FF2B5EF4-FFF2-40B4-BE49-F238E27FC236}">
                <a16:creationId xmlns:a16="http://schemas.microsoft.com/office/drawing/2014/main" id="{FEFE2EB1-D7EE-45CF-C805-72D3B833B8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416289" y="1338166"/>
            <a:ext cx="1435131" cy="1435131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57899095-44F4-3786-80D4-B9A00B2562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57755" y="1831429"/>
            <a:ext cx="734007" cy="339791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05237BE-E778-FE13-80EB-5808D39A16FA}"/>
              </a:ext>
            </a:extLst>
          </p:cNvPr>
          <p:cNvSpPr txBox="1"/>
          <p:nvPr/>
        </p:nvSpPr>
        <p:spPr>
          <a:xfrm>
            <a:off x="5139891" y="1215952"/>
            <a:ext cx="237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Internal Network User’s working Laptop with </a:t>
            </a:r>
            <a:r>
              <a:rPr lang="en-SG" sz="1200" b="1" dirty="0" err="1"/>
              <a:t>OpenClaw</a:t>
            </a:r>
            <a:r>
              <a:rPr lang="en-SG" sz="1200" b="1" dirty="0"/>
              <a:t> </a:t>
            </a:r>
          </a:p>
        </p:txBody>
      </p:sp>
      <p:pic>
        <p:nvPicPr>
          <p:cNvPr id="74" name="Graphic 73" descr="Wi-Fi with solid fill">
            <a:extLst>
              <a:ext uri="{FF2B5EF4-FFF2-40B4-BE49-F238E27FC236}">
                <a16:creationId xmlns:a16="http://schemas.microsoft.com/office/drawing/2014/main" id="{FB810B55-3861-422A-904D-721440ABE7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63627" y="2402249"/>
            <a:ext cx="457200" cy="457200"/>
          </a:xfrm>
          <a:prstGeom prst="rect">
            <a:avLst/>
          </a:prstGeom>
        </p:spPr>
      </p:pic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08F9F792-B149-3B90-4DF7-286406BFFD12}"/>
              </a:ext>
            </a:extLst>
          </p:cNvPr>
          <p:cNvCxnSpPr>
            <a:cxnSpLocks/>
            <a:endCxn id="74" idx="2"/>
          </p:cNvCxnSpPr>
          <p:nvPr/>
        </p:nvCxnSpPr>
        <p:spPr>
          <a:xfrm flipV="1">
            <a:off x="6051454" y="2859449"/>
            <a:ext cx="440773" cy="20335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4" name="Graphic 83" descr="Server with solid fill">
            <a:extLst>
              <a:ext uri="{FF2B5EF4-FFF2-40B4-BE49-F238E27FC236}">
                <a16:creationId xmlns:a16="http://schemas.microsoft.com/office/drawing/2014/main" id="{BC9F50DA-7C05-73C2-35CB-928A2C33EB4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29174" y="4891206"/>
            <a:ext cx="538098" cy="538098"/>
          </a:xfrm>
          <a:prstGeom prst="rect">
            <a:avLst/>
          </a:prstGeom>
        </p:spPr>
      </p:pic>
      <p:sp>
        <p:nvSpPr>
          <p:cNvPr id="87" name="Cloud 86">
            <a:extLst>
              <a:ext uri="{FF2B5EF4-FFF2-40B4-BE49-F238E27FC236}">
                <a16:creationId xmlns:a16="http://schemas.microsoft.com/office/drawing/2014/main" id="{855CAE7E-AB7C-3A47-1F13-0F8EFA5E71B7}"/>
              </a:ext>
            </a:extLst>
          </p:cNvPr>
          <p:cNvSpPr/>
          <p:nvPr/>
        </p:nvSpPr>
        <p:spPr>
          <a:xfrm>
            <a:off x="8744554" y="2798545"/>
            <a:ext cx="1414914" cy="91242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b="1" dirty="0"/>
              <a:t>Internet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1900574-9911-9F6D-BBCE-277436D8769B}"/>
              </a:ext>
            </a:extLst>
          </p:cNvPr>
          <p:cNvCxnSpPr>
            <a:cxnSpLocks/>
            <a:stCxn id="60" idx="3"/>
            <a:endCxn id="87" idx="2"/>
          </p:cNvCxnSpPr>
          <p:nvPr/>
        </p:nvCxnSpPr>
        <p:spPr>
          <a:xfrm flipV="1">
            <a:off x="8459036" y="3254759"/>
            <a:ext cx="28990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Graphic 93" descr="Laptop with solid fill">
            <a:extLst>
              <a:ext uri="{FF2B5EF4-FFF2-40B4-BE49-F238E27FC236}">
                <a16:creationId xmlns:a16="http://schemas.microsoft.com/office/drawing/2014/main" id="{D659782B-86A5-A82B-0A81-9781D32AE1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71762" y="1069439"/>
            <a:ext cx="1435131" cy="143513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2DBD923A-75A4-2AEC-2BBB-5141900FFC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3228" y="1562702"/>
            <a:ext cx="734007" cy="339791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3EA3182-6855-87D8-0726-25F2811B36A5}"/>
              </a:ext>
            </a:extLst>
          </p:cNvPr>
          <p:cNvSpPr txBox="1"/>
          <p:nvPr/>
        </p:nvSpPr>
        <p:spPr>
          <a:xfrm>
            <a:off x="8329000" y="869255"/>
            <a:ext cx="2378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External Network User’s working Laptop with </a:t>
            </a:r>
            <a:r>
              <a:rPr lang="en-SG" sz="1200" b="1" dirty="0" err="1"/>
              <a:t>OpenClaw</a:t>
            </a:r>
            <a:r>
              <a:rPr lang="en-SG" sz="1200" b="1" dirty="0"/>
              <a:t> 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4251948-BE9B-5F99-70FA-F94DD2040A76}"/>
              </a:ext>
            </a:extLst>
          </p:cNvPr>
          <p:cNvCxnSpPr>
            <a:cxnSpLocks/>
            <a:stCxn id="87" idx="3"/>
          </p:cNvCxnSpPr>
          <p:nvPr/>
        </p:nvCxnSpPr>
        <p:spPr>
          <a:xfrm rot="5400000" flipH="1" flipV="1">
            <a:off x="9240893" y="2402280"/>
            <a:ext cx="659552" cy="23731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0" name="Picture 99">
            <a:extLst>
              <a:ext uri="{FF2B5EF4-FFF2-40B4-BE49-F238E27FC236}">
                <a16:creationId xmlns:a16="http://schemas.microsoft.com/office/drawing/2014/main" id="{81888F5F-EC8F-C0F0-383D-55E6B2D5D54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39229" y="4333484"/>
            <a:ext cx="538869" cy="737558"/>
          </a:xfrm>
          <a:prstGeom prst="rect">
            <a:avLst/>
          </a:prstGeom>
        </p:spPr>
      </p:pic>
      <p:pic>
        <p:nvPicPr>
          <p:cNvPr id="101" name="Graphic 100" descr="User with solid fill">
            <a:extLst>
              <a:ext uri="{FF2B5EF4-FFF2-40B4-BE49-F238E27FC236}">
                <a16:creationId xmlns:a16="http://schemas.microsoft.com/office/drawing/2014/main" id="{AA16C974-93B7-8D4B-E347-5DD831E79D1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817676" y="4389894"/>
            <a:ext cx="683583" cy="683583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BBEBDEDB-86AA-739B-D8E7-2344C4669921}"/>
              </a:ext>
            </a:extLst>
          </p:cNvPr>
          <p:cNvSpPr txBox="1"/>
          <p:nvPr/>
        </p:nvSpPr>
        <p:spPr>
          <a:xfrm>
            <a:off x="7848066" y="3657106"/>
            <a:ext cx="8216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accent1"/>
                </a:solidFill>
              </a:rPr>
              <a:t>Port:22</a:t>
            </a:r>
            <a:endParaRPr lang="en-SG" sz="1400" b="1" dirty="0">
              <a:solidFill>
                <a:schemeClr val="accent1"/>
              </a:solidFill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84ACAA2-2EA3-CF94-3CE0-965C1A68867A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9408663" y="3708112"/>
            <a:ext cx="1" cy="6253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A3908EFB-A976-81D4-C564-5ED255809C75}"/>
              </a:ext>
            </a:extLst>
          </p:cNvPr>
          <p:cNvSpPr txBox="1"/>
          <p:nvPr/>
        </p:nvSpPr>
        <p:spPr>
          <a:xfrm>
            <a:off x="8476127" y="5101879"/>
            <a:ext cx="2477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/>
              <a:t>User’s Mobile App such as WhatsApp, Telegram, WeChat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CBFB7DD-0E37-50BA-7F4F-303FBB7EC71D}"/>
              </a:ext>
            </a:extLst>
          </p:cNvPr>
          <p:cNvSpPr txBox="1"/>
          <p:nvPr/>
        </p:nvSpPr>
        <p:spPr>
          <a:xfrm>
            <a:off x="803828" y="1282861"/>
            <a:ext cx="20388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Internal Network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26FE320-037C-20B2-46A0-15F074767E21}"/>
              </a:ext>
            </a:extLst>
          </p:cNvPr>
          <p:cNvCxnSpPr/>
          <p:nvPr/>
        </p:nvCxnSpPr>
        <p:spPr>
          <a:xfrm>
            <a:off x="9280325" y="2247176"/>
            <a:ext cx="0" cy="54752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DEA84341-B69D-2829-179C-C93E5FA45918}"/>
              </a:ext>
            </a:extLst>
          </p:cNvPr>
          <p:cNvCxnSpPr>
            <a:cxnSpLocks/>
          </p:cNvCxnSpPr>
          <p:nvPr/>
        </p:nvCxnSpPr>
        <p:spPr>
          <a:xfrm flipH="1" flipV="1">
            <a:off x="8753011" y="2790908"/>
            <a:ext cx="472045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713C23B-858A-CDB6-B1F9-C2DF209B338E}"/>
              </a:ext>
            </a:extLst>
          </p:cNvPr>
          <p:cNvCxnSpPr>
            <a:cxnSpLocks/>
          </p:cNvCxnSpPr>
          <p:nvPr/>
        </p:nvCxnSpPr>
        <p:spPr>
          <a:xfrm>
            <a:off x="8721485" y="2798545"/>
            <a:ext cx="0" cy="337725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943C0E3-CD5E-A5CB-451B-845DA18A79F4}"/>
              </a:ext>
            </a:extLst>
          </p:cNvPr>
          <p:cNvCxnSpPr>
            <a:cxnSpLocks/>
          </p:cNvCxnSpPr>
          <p:nvPr/>
        </p:nvCxnSpPr>
        <p:spPr>
          <a:xfrm flipH="1">
            <a:off x="8433138" y="3136270"/>
            <a:ext cx="257478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4C8E9F42-0F0F-9DA8-BAAF-85B96848FDB6}"/>
              </a:ext>
            </a:extLst>
          </p:cNvPr>
          <p:cNvCxnSpPr>
            <a:cxnSpLocks/>
          </p:cNvCxnSpPr>
          <p:nvPr/>
        </p:nvCxnSpPr>
        <p:spPr>
          <a:xfrm flipH="1">
            <a:off x="6133854" y="3377475"/>
            <a:ext cx="652798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648042D-4015-A446-3CB5-061E406B2A0F}"/>
              </a:ext>
            </a:extLst>
          </p:cNvPr>
          <p:cNvCxnSpPr>
            <a:cxnSpLocks/>
          </p:cNvCxnSpPr>
          <p:nvPr/>
        </p:nvCxnSpPr>
        <p:spPr>
          <a:xfrm flipV="1">
            <a:off x="5464416" y="3736777"/>
            <a:ext cx="0" cy="2589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CF3EA1F-E971-30EE-867A-F832864FEE8A}"/>
              </a:ext>
            </a:extLst>
          </p:cNvPr>
          <p:cNvCxnSpPr>
            <a:cxnSpLocks/>
          </p:cNvCxnSpPr>
          <p:nvPr/>
        </p:nvCxnSpPr>
        <p:spPr>
          <a:xfrm flipH="1">
            <a:off x="4219117" y="3351769"/>
            <a:ext cx="728268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CD645B5-0586-7485-BDEE-0E85BA08304E}"/>
              </a:ext>
            </a:extLst>
          </p:cNvPr>
          <p:cNvCxnSpPr>
            <a:cxnSpLocks/>
          </p:cNvCxnSpPr>
          <p:nvPr/>
        </p:nvCxnSpPr>
        <p:spPr>
          <a:xfrm flipH="1">
            <a:off x="6314659" y="2535816"/>
            <a:ext cx="0" cy="375976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12E0E73-72CB-D3C5-6626-9BA4196185AA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2951842"/>
            <a:ext cx="219942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B7E5BA8-1F83-AFAE-BABE-CFFFD83793AA}"/>
              </a:ext>
            </a:extLst>
          </p:cNvPr>
          <p:cNvCxnSpPr>
            <a:cxnSpLocks/>
          </p:cNvCxnSpPr>
          <p:nvPr/>
        </p:nvCxnSpPr>
        <p:spPr>
          <a:xfrm flipH="1">
            <a:off x="1143258" y="5214349"/>
            <a:ext cx="385466" cy="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CFACF121-D0A0-B399-2C74-F538002EE800}"/>
              </a:ext>
            </a:extLst>
          </p:cNvPr>
          <p:cNvSpPr txBox="1"/>
          <p:nvPr/>
        </p:nvSpPr>
        <p:spPr>
          <a:xfrm>
            <a:off x="1544230" y="5056533"/>
            <a:ext cx="304286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dirty="0">
                <a:solidFill>
                  <a:schemeClr val="accent2">
                    <a:lumMod val="75000"/>
                  </a:schemeClr>
                </a:solidFill>
              </a:rPr>
              <a:t>Port Forwarded </a:t>
            </a:r>
            <a:r>
              <a:rPr lang="en-SG" sz="1200" b="1" dirty="0" err="1">
                <a:solidFill>
                  <a:schemeClr val="accent2">
                    <a:lumMod val="75000"/>
                  </a:schemeClr>
                </a:solidFill>
              </a:rPr>
              <a:t>OpenClaw</a:t>
            </a:r>
            <a:r>
              <a:rPr lang="en-SG" sz="1200" b="1" dirty="0">
                <a:solidFill>
                  <a:schemeClr val="accent2">
                    <a:lumMod val="75000"/>
                  </a:schemeClr>
                </a:solidFill>
              </a:rPr>
              <a:t> API call to LLM </a:t>
            </a:r>
          </a:p>
        </p:txBody>
      </p:sp>
    </p:spTree>
    <p:extLst>
      <p:ext uri="{BB962C8B-B14F-4D97-AF65-F5344CB8AC3E}">
        <p14:creationId xmlns:p14="http://schemas.microsoft.com/office/powerpoint/2010/main" val="374356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CC5D2E-DADF-8393-043C-8850DEC8B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047" y="2452809"/>
            <a:ext cx="5361905" cy="1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82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79</Words>
  <Application>Microsoft Office PowerPoint</Application>
  <PresentationFormat>Widescreen</PresentationFormat>
  <Paragraphs>18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10</cp:revision>
  <dcterms:created xsi:type="dcterms:W3CDTF">2026-03-12T08:34:50Z</dcterms:created>
  <dcterms:modified xsi:type="dcterms:W3CDTF">2026-03-13T04:39:29Z</dcterms:modified>
</cp:coreProperties>
</file>