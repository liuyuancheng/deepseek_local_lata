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8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D7CF5F-CA5D-4CC3-AFB2-C100E3D4BFD0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D3BBB4-C4FE-47A6-B9D4-00C7D602B05D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82329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D3BBB4-C4FE-47A6-B9D4-00C7D602B05D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034771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F04CD-F5BE-AE7F-6DCF-A85D8AF31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096FD9-48A0-2A3D-D663-68145E86B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A3D94D-57EC-29DF-083B-4C08888DB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6673E-26CB-4168-9B75-EBAA688508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D3BBB4-C4FE-47A6-B9D4-00C7D602B05D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770360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08BA0-8F16-88E0-2E5B-C1A720168F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54DEEB-518E-C218-8E14-CF79935CA7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8B62F-E10C-3CC0-F861-69101702F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9E1F32-4FD6-E9DB-FC07-1BA0693D7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365E86-BF1A-04EA-1CDC-DFAFEE043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12112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70531-D566-3824-6BFF-78CA0E6C2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34429-BB31-F92B-9539-03450A8EEF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9B731-57C0-93D4-644D-7B87BB74E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5C6B58-D835-5826-7EC5-C92C2C38E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044441-7AE0-0580-93D0-CD280CB8B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15854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40A98-CE39-9354-8C7A-0283B2D67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091D00-0752-AAB5-E481-6DB818EF6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F2B6E8-E327-0FE6-5C6C-2E3013BC3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28DF2-3DF1-D5E4-BAB6-8ED3C1129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D73536-7FA7-0790-1DAF-8D0C8CFC1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95798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4C701-8BCC-13EF-12B1-8EE9F843C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A26CC-6771-2C04-623D-FF8275AFB2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96524A-D538-C513-CD7A-71A01BEAEC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F965AA-2633-178B-1D63-94CCB2C9C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913EF8-864D-D238-DD7C-EC0B8B5B4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2512C6-DD37-9EFD-5DCE-400D0B429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64354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38EBF-B6ED-1326-29F3-714E4B3DF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EEC36E-9822-7716-FE04-9EC4B8A90C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BF83A5-7D74-7340-29EB-ED003AB401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1B8349-5D28-3546-84FA-6C068BB84E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6D3B8-2464-85AC-0675-86A1E80BA0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A47EE2-8408-2A81-247B-A24343580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84CDCE-8AA2-7CF7-055A-4FB61B4F7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617549-E5D0-526A-3086-4978BC19B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3641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1A8B6-A0CE-CC8D-81E3-499DDFF69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A9C1F7-3848-88DB-A729-F324B779A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185D8-BB6D-6D51-4A07-0B16916BA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DBC845-D90F-699A-D8E5-8B64A0883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11439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5EAF3F-09B9-52F6-51A8-C1BFE4AF6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123FA9-1CE2-29E7-2850-1AD7A99BA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B315F4-F53B-334B-68E7-209CE1558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866035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347DA-8F01-4C49-D723-FE90A33BE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89E3B-9065-352E-D6AC-B74F34C9DF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E818A4-0534-AD17-FB14-7C90C6863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3E7331-8DC0-41EC-92AA-E47711AA8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B231CE-F5EE-6847-9ACD-8BD552422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9B5A33-AE4E-8C87-61A7-2E142592A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04711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EAC6B-404F-9D0C-D94A-6A5EF98BA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3BF28E-576C-0D3A-C213-924A9A1019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F31C0-FBD9-6EA5-2FD1-0713555A05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855708-3ADC-A59D-BBC3-2E4B852AA1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7B5C08-1290-429C-0BDC-C69C6D1B8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BFF60A-F2FC-4429-9D57-CD4541A80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45139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557BF-2A3F-A030-795C-BFA21ADA9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764D48-99BB-5B22-9CFC-66651B47A7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D9F8A-80C3-E8A4-9347-14CB67557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1BDECA-5107-37E5-12C3-3E5E5B606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9BE29B-B1BA-C4A7-985A-E03C32B8E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0055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5520B5-5063-EAD5-BB99-693CC7A740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9DB8B8-B48C-9F1D-1A52-B125907F0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9FC0C-C4A7-AAC8-D47F-AE5301171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A1B8F-E5B4-4E7F-AEC3-929E37D0EBCF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64F831-549E-1FA8-A002-D45C377EE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29A023-EE64-2A86-9B58-A680E6D7E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55753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6BB336-A523-9F56-0739-A62EC4FE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9E9077-7051-AAA6-2FF0-FADBDB1C5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043FF-1604-8B72-CA6E-BB04BE18E6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EA1B8F-E5B4-4E7F-AEC3-929E37D0EBCF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E5566A-A51C-4ACC-D921-5B55E9261B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66F121-09D0-FB4C-1DA4-ED1CB0B0D8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361526-DE79-4FC3-BAFD-4791570E694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89160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18" Type="http://schemas.openxmlformats.org/officeDocument/2006/relationships/image" Target="../media/image2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2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1.png"/><Relationship Id="rId20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png"/><Relationship Id="rId15" Type="http://schemas.openxmlformats.org/officeDocument/2006/relationships/image" Target="../media/image20.svg"/><Relationship Id="rId10" Type="http://schemas.openxmlformats.org/officeDocument/2006/relationships/image" Target="../media/image15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18" Type="http://schemas.openxmlformats.org/officeDocument/2006/relationships/image" Target="../media/image23.png"/><Relationship Id="rId3" Type="http://schemas.openxmlformats.org/officeDocument/2006/relationships/image" Target="../media/image8.png"/><Relationship Id="rId21" Type="http://schemas.openxmlformats.org/officeDocument/2006/relationships/image" Target="../media/image24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2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1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png"/><Relationship Id="rId15" Type="http://schemas.openxmlformats.org/officeDocument/2006/relationships/image" Target="../media/image20.svg"/><Relationship Id="rId10" Type="http://schemas.openxmlformats.org/officeDocument/2006/relationships/image" Target="../media/image15.png"/><Relationship Id="rId19" Type="http://schemas.openxmlformats.org/officeDocument/2006/relationships/image" Target="../media/image26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Relationship Id="rId22" Type="http://schemas.openxmlformats.org/officeDocument/2006/relationships/image" Target="../media/image25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1750109-3B91-4506-B997-0CD8E35A14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A423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72D8D1B-59F6-4FF3-8547-9BBB6129F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1331" y="480060"/>
            <a:ext cx="3442553" cy="278807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D7F6081-8FCA-36BF-0032-38C654414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98" y="643467"/>
            <a:ext cx="2713044" cy="2475653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C444748-5A8D-4B53-89FE-42B455DFA2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5618" y="487090"/>
            <a:ext cx="3588171" cy="278104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9DD7E66-C278-71EA-2EBE-EC0007859A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2905" y="650497"/>
            <a:ext cx="2990445" cy="2468623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14044C96-7CFD-44DB-A579-D77B0D37C6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35998" y="487090"/>
            <a:ext cx="3588174" cy="278104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3AB3CA5-6F9C-D493-4EFD-B3402D60C7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3518" y="969930"/>
            <a:ext cx="3252903" cy="1829757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8FC8C21F-9484-4A71-ABFA-6C10682FAC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1331" y="3603670"/>
            <a:ext cx="3442553" cy="278807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74822EF-6717-E34F-E369-A48418C08B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984" y="3748194"/>
            <a:ext cx="2548073" cy="2471631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F4FFA271-A10A-4AC3-8F06-E3313A197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29502" y="3603670"/>
            <a:ext cx="3601167" cy="278807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9FE375-3674-4B26-B67B-30AFAF78C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5618" y="3610700"/>
            <a:ext cx="3588171" cy="2781044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D6FFE86-491F-FF74-7C35-5C36034787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537" y="3755224"/>
            <a:ext cx="3217333" cy="124671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683AE05-7F87-B72E-7F80-B914A5DA9C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52666" y="4984009"/>
            <a:ext cx="2999074" cy="126710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CEED8AD-9DCC-04F9-FDE6-86E101AF7C9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13518" y="3755224"/>
            <a:ext cx="3198617" cy="2533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916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B9D1-6D2B-1698-1D5D-99058DC65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B365960-D5C5-3372-63D5-44D9FC059B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895" y="986745"/>
            <a:ext cx="3152052" cy="2602030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6E6BAED-7A4E-C724-6FD1-B506CDF8AA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895" y="3895587"/>
            <a:ext cx="3152052" cy="17730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F565178-93A8-B7D3-FB55-07A882CE2C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0489" y="986746"/>
            <a:ext cx="3281524" cy="299784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F08153F-0F82-4C75-692B-88B009B10E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0489" y="3984595"/>
            <a:ext cx="4264750" cy="164782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AF735D0-1DF0-B92E-6A3E-E21FFE5919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4238" y="986745"/>
            <a:ext cx="3094149" cy="299784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5F4903E-B29D-7367-C514-240E30B371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9289" y="4449957"/>
            <a:ext cx="2430607" cy="1029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645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82">
            <a:extLst>
              <a:ext uri="{FF2B5EF4-FFF2-40B4-BE49-F238E27FC236}">
                <a16:creationId xmlns:a16="http://schemas.microsoft.com/office/drawing/2014/main" id="{1CD9592C-F99C-5F17-9C30-9C5EA18CC5CE}"/>
              </a:ext>
            </a:extLst>
          </p:cNvPr>
          <p:cNvSpPr/>
          <p:nvPr/>
        </p:nvSpPr>
        <p:spPr>
          <a:xfrm>
            <a:off x="779646" y="1222408"/>
            <a:ext cx="6814687" cy="4379495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02BAB0-98D4-F006-9063-2DFBB019C993}"/>
              </a:ext>
            </a:extLst>
          </p:cNvPr>
          <p:cNvSpPr/>
          <p:nvPr/>
        </p:nvSpPr>
        <p:spPr>
          <a:xfrm>
            <a:off x="1150799" y="2861946"/>
            <a:ext cx="2287802" cy="1784089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693BB9-E884-60AE-4D75-D47CFB26C11C}"/>
              </a:ext>
            </a:extLst>
          </p:cNvPr>
          <p:cNvSpPr/>
          <p:nvPr/>
        </p:nvSpPr>
        <p:spPr>
          <a:xfrm>
            <a:off x="1019908" y="1736902"/>
            <a:ext cx="2945700" cy="322973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6" name="Picture 2" descr="DeepSeek Logo and symbol, meaning ...">
            <a:extLst>
              <a:ext uri="{FF2B5EF4-FFF2-40B4-BE49-F238E27FC236}">
                <a16:creationId xmlns:a16="http://schemas.microsoft.com/office/drawing/2014/main" id="{6BE63F29-9723-C50F-A071-BEF6C15A4BE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45" b="19385"/>
          <a:stretch/>
        </p:blipFill>
        <p:spPr bwMode="auto">
          <a:xfrm>
            <a:off x="1276207" y="3799734"/>
            <a:ext cx="1519097" cy="534829"/>
          </a:xfrm>
          <a:prstGeom prst="rect">
            <a:avLst/>
          </a:prstGeom>
          <a:noFill/>
          <a:ln w="190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Run DeepSeek-R1 Locally for Free in Just 3 Minutes! - DEV Community">
            <a:extLst>
              <a:ext uri="{FF2B5EF4-FFF2-40B4-BE49-F238E27FC236}">
                <a16:creationId xmlns:a16="http://schemas.microsoft.com/office/drawing/2014/main" id="{9D8636EF-5C3B-C9B9-0839-968C99677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3238" y="2206244"/>
            <a:ext cx="1378868" cy="514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9F04B9-88FC-7726-F779-0F2A6CB87E3D}"/>
              </a:ext>
            </a:extLst>
          </p:cNvPr>
          <p:cNvSpPr txBox="1"/>
          <p:nvPr/>
        </p:nvSpPr>
        <p:spPr>
          <a:xfrm>
            <a:off x="1180733" y="4351799"/>
            <a:ext cx="23243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deepseek-r1-tool-calling:14b </a:t>
            </a:r>
            <a:endParaRPr lang="en-SG" sz="1200" b="1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2BF3DF9-EC15-C0B8-E574-1A8F4830E9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9203" y="2206244"/>
            <a:ext cx="561512" cy="55802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E668883-D7E5-A114-5515-2F0B4FABFE28}"/>
              </a:ext>
            </a:extLst>
          </p:cNvPr>
          <p:cNvSpPr txBox="1"/>
          <p:nvPr/>
        </p:nvSpPr>
        <p:spPr>
          <a:xfrm>
            <a:off x="940303" y="1787005"/>
            <a:ext cx="31467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GPU Server or A Gaming Laptop </a:t>
            </a:r>
            <a:endParaRPr lang="en-SG" sz="16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C678BE1-A813-A436-945F-01741597AF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6169" y="3005434"/>
            <a:ext cx="368410" cy="3613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9ABF061-C942-D852-33FB-ABF513DDF4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1027" y="2978193"/>
            <a:ext cx="1519097" cy="55313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47A49B0-D22C-D6BD-F3B9-FB70EB8B8DE5}"/>
              </a:ext>
            </a:extLst>
          </p:cNvPr>
          <p:cNvSpPr txBox="1"/>
          <p:nvPr/>
        </p:nvSpPr>
        <p:spPr>
          <a:xfrm>
            <a:off x="1210667" y="3553420"/>
            <a:ext cx="23243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deepseek-r1-tool-calling:14b 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4A8DE0-7B07-90AB-C6BD-6B4331F61A9A}"/>
              </a:ext>
            </a:extLst>
          </p:cNvPr>
          <p:cNvSpPr txBox="1"/>
          <p:nvPr/>
        </p:nvSpPr>
        <p:spPr>
          <a:xfrm>
            <a:off x="3667572" y="3429000"/>
            <a:ext cx="8216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Port:22</a:t>
            </a:r>
            <a:endParaRPr lang="en-SG" sz="1400" b="1" dirty="0">
              <a:solidFill>
                <a:schemeClr val="accent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D284230-396C-2278-5F7F-D80A012E52BA}"/>
              </a:ext>
            </a:extLst>
          </p:cNvPr>
          <p:cNvSpPr/>
          <p:nvPr/>
        </p:nvSpPr>
        <p:spPr>
          <a:xfrm>
            <a:off x="3301465" y="3975234"/>
            <a:ext cx="262544" cy="27699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62F2BA5-DD1A-E6BE-0BA4-D983EA0AEA24}"/>
              </a:ext>
            </a:extLst>
          </p:cNvPr>
          <p:cNvCxnSpPr>
            <a:stCxn id="29" idx="3"/>
            <a:endCxn id="15" idx="1"/>
          </p:cNvCxnSpPr>
          <p:nvPr/>
        </p:nvCxnSpPr>
        <p:spPr>
          <a:xfrm flipV="1">
            <a:off x="3564009" y="3186097"/>
            <a:ext cx="262160" cy="92763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BBA7D10-E73E-932A-2B7F-5E0E50DE3308}"/>
              </a:ext>
            </a:extLst>
          </p:cNvPr>
          <p:cNvSpPr txBox="1"/>
          <p:nvPr/>
        </p:nvSpPr>
        <p:spPr>
          <a:xfrm>
            <a:off x="1480244" y="4673889"/>
            <a:ext cx="26997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Ollama localhost port 11434 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54C959A-998D-1EC8-F43A-5C6483E51F6E}"/>
              </a:ext>
            </a:extLst>
          </p:cNvPr>
          <p:cNvCxnSpPr/>
          <p:nvPr/>
        </p:nvCxnSpPr>
        <p:spPr>
          <a:xfrm flipV="1">
            <a:off x="3564009" y="4351799"/>
            <a:ext cx="0" cy="3220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B8A9578-9624-8D17-4AE0-69B9CA2B4A25}"/>
              </a:ext>
            </a:extLst>
          </p:cNvPr>
          <p:cNvCxnSpPr>
            <a:stCxn id="15" idx="3"/>
          </p:cNvCxnSpPr>
          <p:nvPr/>
        </p:nvCxnSpPr>
        <p:spPr>
          <a:xfrm flipV="1">
            <a:off x="4194579" y="3186096"/>
            <a:ext cx="945312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572D62A7-0573-DAFF-3A66-08158A65EC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39891" y="2920673"/>
            <a:ext cx="890533" cy="75123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15B47C1E-9541-36F2-0013-47DC645901AC}"/>
              </a:ext>
            </a:extLst>
          </p:cNvPr>
          <p:cNvSpPr txBox="1"/>
          <p:nvPr/>
        </p:nvSpPr>
        <p:spPr>
          <a:xfrm>
            <a:off x="4362538" y="2613050"/>
            <a:ext cx="16678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Ethernet Router or Switch 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DDA7419-251C-9BC4-F95A-14B5DD0FDB13}"/>
              </a:ext>
            </a:extLst>
          </p:cNvPr>
          <p:cNvSpPr/>
          <p:nvPr/>
        </p:nvSpPr>
        <p:spPr>
          <a:xfrm>
            <a:off x="5139891" y="4113734"/>
            <a:ext cx="1940574" cy="13534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4A836C-34B3-9172-3E85-4F8C08BD9618}"/>
              </a:ext>
            </a:extLst>
          </p:cNvPr>
          <p:cNvSpPr txBox="1"/>
          <p:nvPr/>
        </p:nvSpPr>
        <p:spPr>
          <a:xfrm>
            <a:off x="5722011" y="3695348"/>
            <a:ext cx="18723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dirty="0"/>
              <a:t>Internal network User’s compute server 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6CB5AD96-1645-FB6F-4D98-7FB8864934D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6739" y="4573363"/>
            <a:ext cx="1332727" cy="616954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5C9EAB1-AB3C-2B24-9539-F1A63242AA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6289" y="4042001"/>
            <a:ext cx="345194" cy="338555"/>
          </a:xfrm>
          <a:prstGeom prst="rect">
            <a:avLst/>
          </a:prstGeom>
        </p:spPr>
      </p:pic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EB16D34-BBB3-CE21-53E5-E28A11ACA69D}"/>
              </a:ext>
            </a:extLst>
          </p:cNvPr>
          <p:cNvCxnSpPr>
            <a:cxnSpLocks/>
            <a:stCxn id="38" idx="2"/>
            <a:endCxn id="44" idx="0"/>
          </p:cNvCxnSpPr>
          <p:nvPr/>
        </p:nvCxnSpPr>
        <p:spPr>
          <a:xfrm>
            <a:off x="5585158" y="3671904"/>
            <a:ext cx="3728" cy="3700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DABAEDA-D314-47D4-5FEB-A2C01D74F7E1}"/>
              </a:ext>
            </a:extLst>
          </p:cNvPr>
          <p:cNvCxnSpPr>
            <a:cxnSpLocks/>
            <a:stCxn id="44" idx="3"/>
            <a:endCxn id="43" idx="3"/>
          </p:cNvCxnSpPr>
          <p:nvPr/>
        </p:nvCxnSpPr>
        <p:spPr>
          <a:xfrm>
            <a:off x="5761483" y="4211279"/>
            <a:ext cx="787983" cy="670561"/>
          </a:xfrm>
          <a:prstGeom prst="bentConnector3">
            <a:avLst>
              <a:gd name="adj1" fmla="val 12901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5D313020-4215-7ED2-7872-5B02038C46E8}"/>
              </a:ext>
            </a:extLst>
          </p:cNvPr>
          <p:cNvSpPr txBox="1"/>
          <p:nvPr/>
        </p:nvSpPr>
        <p:spPr>
          <a:xfrm>
            <a:off x="5741782" y="4188567"/>
            <a:ext cx="13774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100" b="1" dirty="0"/>
              <a:t>Forward port 11434 to localhost 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EE05B9A-804A-1297-9EC5-BE84FB77DA55}"/>
              </a:ext>
            </a:extLst>
          </p:cNvPr>
          <p:cNvSpPr txBox="1"/>
          <p:nvPr/>
        </p:nvSpPr>
        <p:spPr>
          <a:xfrm>
            <a:off x="5139891" y="5174845"/>
            <a:ext cx="16014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 err="1"/>
              <a:t>OpenClaw</a:t>
            </a:r>
            <a:r>
              <a:rPr lang="en-SG" sz="1400" b="1" dirty="0"/>
              <a:t> Agent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9BED5D3-76CC-88C6-5C12-1EEA7A196C44}"/>
              </a:ext>
            </a:extLst>
          </p:cNvPr>
          <p:cNvSpPr/>
          <p:nvPr/>
        </p:nvSpPr>
        <p:spPr>
          <a:xfrm>
            <a:off x="7053085" y="2920673"/>
            <a:ext cx="1193778" cy="7465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2C49C16D-616E-CAC9-ECD2-1A1E826E94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186" y="3085376"/>
            <a:ext cx="368410" cy="361325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2560C64-BACF-F01F-6BDD-878A8EDAE2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0626" y="3074097"/>
            <a:ext cx="368410" cy="361325"/>
          </a:xfrm>
          <a:prstGeom prst="rect">
            <a:avLst/>
          </a:prstGeom>
        </p:spPr>
      </p:pic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28D9777-571A-B8F9-168C-C12E0D6FD04E}"/>
              </a:ext>
            </a:extLst>
          </p:cNvPr>
          <p:cNvCxnSpPr>
            <a:cxnSpLocks/>
            <a:stCxn id="38" idx="3"/>
            <a:endCxn id="59" idx="1"/>
          </p:cNvCxnSpPr>
          <p:nvPr/>
        </p:nvCxnSpPr>
        <p:spPr>
          <a:xfrm flipV="1">
            <a:off x="6030424" y="3266039"/>
            <a:ext cx="82776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D47FD01B-0509-9391-5002-884B37719B37}"/>
              </a:ext>
            </a:extLst>
          </p:cNvPr>
          <p:cNvSpPr txBox="1"/>
          <p:nvPr/>
        </p:nvSpPr>
        <p:spPr>
          <a:xfrm>
            <a:off x="7100279" y="2216746"/>
            <a:ext cx="114592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Gateway or Jump host or firewall</a:t>
            </a:r>
          </a:p>
        </p:txBody>
      </p:sp>
      <p:pic>
        <p:nvPicPr>
          <p:cNvPr id="68" name="Graphic 67" descr="Server with solid fill">
            <a:extLst>
              <a:ext uri="{FF2B5EF4-FFF2-40B4-BE49-F238E27FC236}">
                <a16:creationId xmlns:a16="http://schemas.microsoft.com/office/drawing/2014/main" id="{A0DFEF42-E886-B898-8696-076B0A08D49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357629" y="3044790"/>
            <a:ext cx="538098" cy="538098"/>
          </a:xfrm>
          <a:prstGeom prst="rect">
            <a:avLst/>
          </a:prstGeom>
        </p:spPr>
      </p:pic>
      <p:pic>
        <p:nvPicPr>
          <p:cNvPr id="70" name="Graphic 69" descr="Laptop with solid fill">
            <a:extLst>
              <a:ext uri="{FF2B5EF4-FFF2-40B4-BE49-F238E27FC236}">
                <a16:creationId xmlns:a16="http://schemas.microsoft.com/office/drawing/2014/main" id="{FEFE2EB1-D7EE-45CF-C805-72D3B833B8B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416289" y="1338166"/>
            <a:ext cx="1435131" cy="1435131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57899095-44F4-3786-80D4-B9A00B25629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57755" y="1831429"/>
            <a:ext cx="734007" cy="339791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E05237BE-E778-FE13-80EB-5808D39A16FA}"/>
              </a:ext>
            </a:extLst>
          </p:cNvPr>
          <p:cNvSpPr txBox="1"/>
          <p:nvPr/>
        </p:nvSpPr>
        <p:spPr>
          <a:xfrm>
            <a:off x="5139891" y="1215952"/>
            <a:ext cx="23787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dirty="0"/>
              <a:t>Internal Network User’s working Laptop with </a:t>
            </a:r>
            <a:r>
              <a:rPr lang="en-SG" sz="1200" b="1" dirty="0" err="1"/>
              <a:t>OpenClaw</a:t>
            </a:r>
            <a:r>
              <a:rPr lang="en-SG" sz="1200" b="1" dirty="0"/>
              <a:t> </a:t>
            </a:r>
          </a:p>
        </p:txBody>
      </p:sp>
      <p:pic>
        <p:nvPicPr>
          <p:cNvPr id="74" name="Graphic 73" descr="Wi-Fi with solid fill">
            <a:extLst>
              <a:ext uri="{FF2B5EF4-FFF2-40B4-BE49-F238E27FC236}">
                <a16:creationId xmlns:a16="http://schemas.microsoft.com/office/drawing/2014/main" id="{FB810B55-3861-422A-904D-721440ABE73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263627" y="2402249"/>
            <a:ext cx="457200" cy="457200"/>
          </a:xfrm>
          <a:prstGeom prst="rect">
            <a:avLst/>
          </a:prstGeom>
        </p:spPr>
      </p:pic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8F9F792-B149-3B90-4DF7-286406BFFD12}"/>
              </a:ext>
            </a:extLst>
          </p:cNvPr>
          <p:cNvCxnSpPr>
            <a:cxnSpLocks/>
            <a:endCxn id="74" idx="2"/>
          </p:cNvCxnSpPr>
          <p:nvPr/>
        </p:nvCxnSpPr>
        <p:spPr>
          <a:xfrm flipV="1">
            <a:off x="6051454" y="2859449"/>
            <a:ext cx="440773" cy="20335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4" name="Graphic 83" descr="Server with solid fill">
            <a:extLst>
              <a:ext uri="{FF2B5EF4-FFF2-40B4-BE49-F238E27FC236}">
                <a16:creationId xmlns:a16="http://schemas.microsoft.com/office/drawing/2014/main" id="{BC9F50DA-7C05-73C2-35CB-928A2C33EB45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29174" y="4891206"/>
            <a:ext cx="538098" cy="538098"/>
          </a:xfrm>
          <a:prstGeom prst="rect">
            <a:avLst/>
          </a:prstGeom>
        </p:spPr>
      </p:pic>
      <p:sp>
        <p:nvSpPr>
          <p:cNvPr id="87" name="Cloud 86">
            <a:extLst>
              <a:ext uri="{FF2B5EF4-FFF2-40B4-BE49-F238E27FC236}">
                <a16:creationId xmlns:a16="http://schemas.microsoft.com/office/drawing/2014/main" id="{855CAE7E-AB7C-3A47-1F13-0F8EFA5E71B7}"/>
              </a:ext>
            </a:extLst>
          </p:cNvPr>
          <p:cNvSpPr/>
          <p:nvPr/>
        </p:nvSpPr>
        <p:spPr>
          <a:xfrm>
            <a:off x="8744554" y="2798545"/>
            <a:ext cx="1414914" cy="912428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b="1" dirty="0"/>
              <a:t>Internet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81900574-9911-9F6D-BBCE-277436D8769B}"/>
              </a:ext>
            </a:extLst>
          </p:cNvPr>
          <p:cNvCxnSpPr>
            <a:cxnSpLocks/>
            <a:stCxn id="60" idx="3"/>
            <a:endCxn id="87" idx="2"/>
          </p:cNvCxnSpPr>
          <p:nvPr/>
        </p:nvCxnSpPr>
        <p:spPr>
          <a:xfrm flipV="1">
            <a:off x="8459036" y="3254759"/>
            <a:ext cx="289907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4" name="Graphic 93" descr="Laptop with solid fill">
            <a:extLst>
              <a:ext uri="{FF2B5EF4-FFF2-40B4-BE49-F238E27FC236}">
                <a16:creationId xmlns:a16="http://schemas.microsoft.com/office/drawing/2014/main" id="{D659782B-86A5-A82B-0A81-9781D32AE13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971762" y="1069439"/>
            <a:ext cx="1435131" cy="1435131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2DBD923A-75A4-2AEC-2BBB-5141900FFC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13228" y="1562702"/>
            <a:ext cx="734007" cy="339791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B3EA3182-6855-87D8-0726-25F2811B36A5}"/>
              </a:ext>
            </a:extLst>
          </p:cNvPr>
          <p:cNvSpPr txBox="1"/>
          <p:nvPr/>
        </p:nvSpPr>
        <p:spPr>
          <a:xfrm>
            <a:off x="8329000" y="869255"/>
            <a:ext cx="23787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dirty="0"/>
              <a:t>External Network User’s working Laptop with </a:t>
            </a:r>
            <a:r>
              <a:rPr lang="en-SG" sz="1200" b="1" dirty="0" err="1"/>
              <a:t>OpenClaw</a:t>
            </a:r>
            <a:r>
              <a:rPr lang="en-SG" sz="1200" b="1" dirty="0"/>
              <a:t> </a:t>
            </a:r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D4251948-BE9B-5F99-70FA-F94DD2040A76}"/>
              </a:ext>
            </a:extLst>
          </p:cNvPr>
          <p:cNvCxnSpPr>
            <a:cxnSpLocks/>
            <a:stCxn id="87" idx="3"/>
          </p:cNvCxnSpPr>
          <p:nvPr/>
        </p:nvCxnSpPr>
        <p:spPr>
          <a:xfrm rot="5400000" flipH="1" flipV="1">
            <a:off x="9240893" y="2402280"/>
            <a:ext cx="659552" cy="237316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81888F5F-EC8F-C0F0-383D-55E6B2D5D54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39229" y="4333484"/>
            <a:ext cx="538869" cy="737558"/>
          </a:xfrm>
          <a:prstGeom prst="rect">
            <a:avLst/>
          </a:prstGeom>
        </p:spPr>
      </p:pic>
      <p:pic>
        <p:nvPicPr>
          <p:cNvPr id="101" name="Graphic 100" descr="User with solid fill">
            <a:extLst>
              <a:ext uri="{FF2B5EF4-FFF2-40B4-BE49-F238E27FC236}">
                <a16:creationId xmlns:a16="http://schemas.microsoft.com/office/drawing/2014/main" id="{AA16C974-93B7-8D4B-E347-5DD831E79D1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817676" y="4389894"/>
            <a:ext cx="683583" cy="683583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BBEBDEDB-86AA-739B-D8E7-2344C4669921}"/>
              </a:ext>
            </a:extLst>
          </p:cNvPr>
          <p:cNvSpPr txBox="1"/>
          <p:nvPr/>
        </p:nvSpPr>
        <p:spPr>
          <a:xfrm>
            <a:off x="7848066" y="3657106"/>
            <a:ext cx="8216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Port:22</a:t>
            </a:r>
            <a:endParaRPr lang="en-SG" sz="1400" b="1" dirty="0">
              <a:solidFill>
                <a:schemeClr val="accent1"/>
              </a:solidFill>
            </a:endParaRPr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C84ACAA2-2EA3-CF94-3CE0-965C1A68867A}"/>
              </a:ext>
            </a:extLst>
          </p:cNvPr>
          <p:cNvCxnSpPr>
            <a:cxnSpLocks/>
            <a:endCxn id="100" idx="0"/>
          </p:cNvCxnSpPr>
          <p:nvPr/>
        </p:nvCxnSpPr>
        <p:spPr>
          <a:xfrm>
            <a:off x="9408663" y="3708112"/>
            <a:ext cx="1" cy="6253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A3908EFB-A976-81D4-C564-5ED255809C75}"/>
              </a:ext>
            </a:extLst>
          </p:cNvPr>
          <p:cNvSpPr txBox="1"/>
          <p:nvPr/>
        </p:nvSpPr>
        <p:spPr>
          <a:xfrm>
            <a:off x="8476127" y="5101879"/>
            <a:ext cx="24774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dirty="0"/>
              <a:t>User’s Mobile App such as WhatsApp, Telegram, WeChat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CBFB7DD-0E37-50BA-7F4F-303FBB7EC71D}"/>
              </a:ext>
            </a:extLst>
          </p:cNvPr>
          <p:cNvSpPr txBox="1"/>
          <p:nvPr/>
        </p:nvSpPr>
        <p:spPr>
          <a:xfrm>
            <a:off x="803828" y="1282861"/>
            <a:ext cx="20388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6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Internal Network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26FE320-037C-20B2-46A0-15F074767E21}"/>
              </a:ext>
            </a:extLst>
          </p:cNvPr>
          <p:cNvCxnSpPr/>
          <p:nvPr/>
        </p:nvCxnSpPr>
        <p:spPr>
          <a:xfrm>
            <a:off x="9280325" y="2247176"/>
            <a:ext cx="0" cy="547523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DEA84341-B69D-2829-179C-C93E5FA45918}"/>
              </a:ext>
            </a:extLst>
          </p:cNvPr>
          <p:cNvCxnSpPr>
            <a:cxnSpLocks/>
          </p:cNvCxnSpPr>
          <p:nvPr/>
        </p:nvCxnSpPr>
        <p:spPr>
          <a:xfrm flipH="1" flipV="1">
            <a:off x="8753011" y="2790908"/>
            <a:ext cx="472045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F713C23B-858A-CDB6-B1F9-C2DF209B338E}"/>
              </a:ext>
            </a:extLst>
          </p:cNvPr>
          <p:cNvCxnSpPr>
            <a:cxnSpLocks/>
          </p:cNvCxnSpPr>
          <p:nvPr/>
        </p:nvCxnSpPr>
        <p:spPr>
          <a:xfrm>
            <a:off x="8721485" y="2798545"/>
            <a:ext cx="0" cy="337725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943C0E3-CD5E-A5CB-451B-845DA18A79F4}"/>
              </a:ext>
            </a:extLst>
          </p:cNvPr>
          <p:cNvCxnSpPr>
            <a:cxnSpLocks/>
          </p:cNvCxnSpPr>
          <p:nvPr/>
        </p:nvCxnSpPr>
        <p:spPr>
          <a:xfrm flipH="1">
            <a:off x="8433138" y="3136270"/>
            <a:ext cx="257478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4C8E9F42-0F0F-9DA8-BAAF-85B96848FDB6}"/>
              </a:ext>
            </a:extLst>
          </p:cNvPr>
          <p:cNvCxnSpPr>
            <a:cxnSpLocks/>
          </p:cNvCxnSpPr>
          <p:nvPr/>
        </p:nvCxnSpPr>
        <p:spPr>
          <a:xfrm flipH="1">
            <a:off x="6133854" y="3377475"/>
            <a:ext cx="652798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8648042D-4015-A446-3CB5-061E406B2A0F}"/>
              </a:ext>
            </a:extLst>
          </p:cNvPr>
          <p:cNvCxnSpPr>
            <a:cxnSpLocks/>
          </p:cNvCxnSpPr>
          <p:nvPr/>
        </p:nvCxnSpPr>
        <p:spPr>
          <a:xfrm flipV="1">
            <a:off x="5464416" y="3736777"/>
            <a:ext cx="0" cy="258976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5CF3EA1F-E971-30EE-867A-F832864FEE8A}"/>
              </a:ext>
            </a:extLst>
          </p:cNvPr>
          <p:cNvCxnSpPr>
            <a:cxnSpLocks/>
          </p:cNvCxnSpPr>
          <p:nvPr/>
        </p:nvCxnSpPr>
        <p:spPr>
          <a:xfrm flipH="1">
            <a:off x="4219117" y="3351769"/>
            <a:ext cx="728268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8CD645B5-0586-7485-BDEE-0E85BA08304E}"/>
              </a:ext>
            </a:extLst>
          </p:cNvPr>
          <p:cNvCxnSpPr>
            <a:cxnSpLocks/>
          </p:cNvCxnSpPr>
          <p:nvPr/>
        </p:nvCxnSpPr>
        <p:spPr>
          <a:xfrm flipH="1">
            <a:off x="6314659" y="2535816"/>
            <a:ext cx="0" cy="375976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E12E0E73-72CB-D3C5-6626-9BA4196185AA}"/>
              </a:ext>
            </a:extLst>
          </p:cNvPr>
          <p:cNvCxnSpPr>
            <a:cxnSpLocks/>
          </p:cNvCxnSpPr>
          <p:nvPr/>
        </p:nvCxnSpPr>
        <p:spPr>
          <a:xfrm flipH="1" flipV="1">
            <a:off x="6096000" y="2951842"/>
            <a:ext cx="219942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FB7E5BA8-1F83-AFAE-BABE-CFFFD83793AA}"/>
              </a:ext>
            </a:extLst>
          </p:cNvPr>
          <p:cNvCxnSpPr>
            <a:cxnSpLocks/>
          </p:cNvCxnSpPr>
          <p:nvPr/>
        </p:nvCxnSpPr>
        <p:spPr>
          <a:xfrm flipH="1">
            <a:off x="1143258" y="5214349"/>
            <a:ext cx="385466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CFACF121-D0A0-B399-2C74-F538002EE800}"/>
              </a:ext>
            </a:extLst>
          </p:cNvPr>
          <p:cNvSpPr txBox="1"/>
          <p:nvPr/>
        </p:nvSpPr>
        <p:spPr>
          <a:xfrm>
            <a:off x="1544230" y="5056533"/>
            <a:ext cx="3042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dirty="0">
                <a:solidFill>
                  <a:schemeClr val="accent2">
                    <a:lumMod val="75000"/>
                  </a:schemeClr>
                </a:solidFill>
              </a:rPr>
              <a:t>Port Forwarded </a:t>
            </a:r>
            <a:r>
              <a:rPr lang="en-SG" sz="1200" b="1" dirty="0" err="1">
                <a:solidFill>
                  <a:schemeClr val="accent2">
                    <a:lumMod val="75000"/>
                  </a:schemeClr>
                </a:solidFill>
              </a:rPr>
              <a:t>OpenClaw</a:t>
            </a:r>
            <a:r>
              <a:rPr lang="en-SG" sz="1200" b="1" dirty="0">
                <a:solidFill>
                  <a:schemeClr val="accent2">
                    <a:lumMod val="75000"/>
                  </a:schemeClr>
                </a:solidFill>
              </a:rPr>
              <a:t> API call to LLM </a:t>
            </a:r>
          </a:p>
        </p:txBody>
      </p:sp>
    </p:spTree>
    <p:extLst>
      <p:ext uri="{BB962C8B-B14F-4D97-AF65-F5344CB8AC3E}">
        <p14:creationId xmlns:p14="http://schemas.microsoft.com/office/powerpoint/2010/main" val="3743561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DAFB0-D136-9C42-367E-32E383A34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60EABFDF-2A21-7DB6-5529-E7C48A749A12}"/>
              </a:ext>
            </a:extLst>
          </p:cNvPr>
          <p:cNvSpPr/>
          <p:nvPr/>
        </p:nvSpPr>
        <p:spPr>
          <a:xfrm>
            <a:off x="535863" y="433136"/>
            <a:ext cx="11255084" cy="61024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03E8147-3BE0-220B-3444-5E757F1A54B9}"/>
              </a:ext>
            </a:extLst>
          </p:cNvPr>
          <p:cNvSpPr/>
          <p:nvPr/>
        </p:nvSpPr>
        <p:spPr>
          <a:xfrm>
            <a:off x="779646" y="1905803"/>
            <a:ext cx="6814687" cy="4379495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4A7829-84D8-5B0C-218C-7BF8A4AA9919}"/>
              </a:ext>
            </a:extLst>
          </p:cNvPr>
          <p:cNvSpPr/>
          <p:nvPr/>
        </p:nvSpPr>
        <p:spPr>
          <a:xfrm>
            <a:off x="1150799" y="3545341"/>
            <a:ext cx="2287802" cy="1784089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BA73FC-D291-A17F-13B4-1D4897D34D5F}"/>
              </a:ext>
            </a:extLst>
          </p:cNvPr>
          <p:cNvSpPr/>
          <p:nvPr/>
        </p:nvSpPr>
        <p:spPr>
          <a:xfrm>
            <a:off x="1019908" y="2420297"/>
            <a:ext cx="2945700" cy="322973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6" name="Picture 2" descr="DeepSeek Logo and symbol, meaning ...">
            <a:extLst>
              <a:ext uri="{FF2B5EF4-FFF2-40B4-BE49-F238E27FC236}">
                <a16:creationId xmlns:a16="http://schemas.microsoft.com/office/drawing/2014/main" id="{DF725BB4-E3C8-A65D-7F5E-B16A81FCB5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45" b="19385"/>
          <a:stretch/>
        </p:blipFill>
        <p:spPr bwMode="auto">
          <a:xfrm>
            <a:off x="1276207" y="4483129"/>
            <a:ext cx="1519097" cy="534829"/>
          </a:xfrm>
          <a:prstGeom prst="rect">
            <a:avLst/>
          </a:prstGeom>
          <a:noFill/>
          <a:ln w="190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Run DeepSeek-R1 Locally for Free in Just 3 Minutes! - DEV Community">
            <a:extLst>
              <a:ext uri="{FF2B5EF4-FFF2-40B4-BE49-F238E27FC236}">
                <a16:creationId xmlns:a16="http://schemas.microsoft.com/office/drawing/2014/main" id="{F2390E63-6FD5-8CBB-0466-AEB7ACB1E7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3238" y="2889639"/>
            <a:ext cx="1378868" cy="514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2D247C7-CF32-FC81-9C87-E50B35E4B054}"/>
              </a:ext>
            </a:extLst>
          </p:cNvPr>
          <p:cNvSpPr txBox="1"/>
          <p:nvPr/>
        </p:nvSpPr>
        <p:spPr>
          <a:xfrm>
            <a:off x="1180733" y="5035194"/>
            <a:ext cx="23243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deepseek-r1-tool-calling:14b </a:t>
            </a:r>
            <a:endParaRPr lang="en-SG" sz="1200" b="1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884A93D-87C7-98F1-E2A6-FD3D8BBE3B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9203" y="2889639"/>
            <a:ext cx="561512" cy="55802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F7A13E3-6E9F-51EF-10D3-DAA2F492AE45}"/>
              </a:ext>
            </a:extLst>
          </p:cNvPr>
          <p:cNvSpPr txBox="1"/>
          <p:nvPr/>
        </p:nvSpPr>
        <p:spPr>
          <a:xfrm>
            <a:off x="940303" y="2470400"/>
            <a:ext cx="31467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GPU Server or A Gaming Laptop </a:t>
            </a:r>
            <a:endParaRPr lang="en-SG" sz="16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82815F1-4867-CC71-F6B1-4CEBAF9AAC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6169" y="3688829"/>
            <a:ext cx="368410" cy="3613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F487A2F-1095-C84D-230D-21A7ECB286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1027" y="3661588"/>
            <a:ext cx="1519097" cy="55313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5FC22F0-43B2-B14F-33E7-298D820DA7FB}"/>
              </a:ext>
            </a:extLst>
          </p:cNvPr>
          <p:cNvSpPr txBox="1"/>
          <p:nvPr/>
        </p:nvSpPr>
        <p:spPr>
          <a:xfrm>
            <a:off x="1210667" y="4236815"/>
            <a:ext cx="23243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deepseek-r1-tool-calling:14b 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64F2EC-4EB0-9BE7-1F8D-0056A1D90C7D}"/>
              </a:ext>
            </a:extLst>
          </p:cNvPr>
          <p:cNvSpPr txBox="1"/>
          <p:nvPr/>
        </p:nvSpPr>
        <p:spPr>
          <a:xfrm>
            <a:off x="3667572" y="4112395"/>
            <a:ext cx="8216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Port:22</a:t>
            </a:r>
            <a:endParaRPr lang="en-SG" sz="1400" b="1" dirty="0">
              <a:solidFill>
                <a:schemeClr val="accent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C6FCDBD-A95C-8EC9-3C62-CC8CD2A9F5E1}"/>
              </a:ext>
            </a:extLst>
          </p:cNvPr>
          <p:cNvSpPr/>
          <p:nvPr/>
        </p:nvSpPr>
        <p:spPr>
          <a:xfrm>
            <a:off x="3301465" y="4658629"/>
            <a:ext cx="262544" cy="27699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5DE732F0-B60D-032C-A2ED-4FD22B6C7CF1}"/>
              </a:ext>
            </a:extLst>
          </p:cNvPr>
          <p:cNvCxnSpPr>
            <a:stCxn id="29" idx="3"/>
            <a:endCxn id="15" idx="1"/>
          </p:cNvCxnSpPr>
          <p:nvPr/>
        </p:nvCxnSpPr>
        <p:spPr>
          <a:xfrm flipV="1">
            <a:off x="3564009" y="3869492"/>
            <a:ext cx="262160" cy="92763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18DF315D-46A7-D4B3-1FCA-3AA50E24FFFB}"/>
              </a:ext>
            </a:extLst>
          </p:cNvPr>
          <p:cNvSpPr txBox="1"/>
          <p:nvPr/>
        </p:nvSpPr>
        <p:spPr>
          <a:xfrm>
            <a:off x="1480244" y="5357284"/>
            <a:ext cx="26997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Ollama localhost port 11434 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C0F353C-1AC5-1750-F4C8-89C797261944}"/>
              </a:ext>
            </a:extLst>
          </p:cNvPr>
          <p:cNvCxnSpPr/>
          <p:nvPr/>
        </p:nvCxnSpPr>
        <p:spPr>
          <a:xfrm flipV="1">
            <a:off x="3564009" y="5035194"/>
            <a:ext cx="0" cy="3220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4DF2FE5-0ABA-CC5F-1CB4-2CDC638D082E}"/>
              </a:ext>
            </a:extLst>
          </p:cNvPr>
          <p:cNvCxnSpPr>
            <a:stCxn id="15" idx="3"/>
          </p:cNvCxnSpPr>
          <p:nvPr/>
        </p:nvCxnSpPr>
        <p:spPr>
          <a:xfrm flipV="1">
            <a:off x="4194579" y="3869491"/>
            <a:ext cx="945312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9E5D3FB8-103A-6097-DAE0-E51BC2E861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39891" y="3604068"/>
            <a:ext cx="890533" cy="75123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AE0EAF55-07BD-1E37-EB6F-2AD86D1EB1BC}"/>
              </a:ext>
            </a:extLst>
          </p:cNvPr>
          <p:cNvSpPr txBox="1"/>
          <p:nvPr/>
        </p:nvSpPr>
        <p:spPr>
          <a:xfrm>
            <a:off x="4362538" y="3296445"/>
            <a:ext cx="16678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Ethernet Router or Switch 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F97F865-09D6-0C19-7BA4-E36B60A788F9}"/>
              </a:ext>
            </a:extLst>
          </p:cNvPr>
          <p:cNvSpPr/>
          <p:nvPr/>
        </p:nvSpPr>
        <p:spPr>
          <a:xfrm>
            <a:off x="5139891" y="4797129"/>
            <a:ext cx="1940574" cy="13534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E435CA-8804-DE04-DA09-5AFD4B64D511}"/>
              </a:ext>
            </a:extLst>
          </p:cNvPr>
          <p:cNvSpPr txBox="1"/>
          <p:nvPr/>
        </p:nvSpPr>
        <p:spPr>
          <a:xfrm>
            <a:off x="5722011" y="4378743"/>
            <a:ext cx="18723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dirty="0"/>
              <a:t>Internal network User’s compute server 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7FF71989-D230-6671-91DB-F31B5B121BE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6739" y="5256758"/>
            <a:ext cx="1332727" cy="616954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F1682F51-2308-45AA-FBE0-44CC05CA32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6289" y="4725396"/>
            <a:ext cx="345194" cy="338555"/>
          </a:xfrm>
          <a:prstGeom prst="rect">
            <a:avLst/>
          </a:prstGeom>
        </p:spPr>
      </p:pic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65404C3-2D15-8304-69F1-5159DAA529C3}"/>
              </a:ext>
            </a:extLst>
          </p:cNvPr>
          <p:cNvCxnSpPr>
            <a:cxnSpLocks/>
            <a:stCxn id="38" idx="2"/>
            <a:endCxn id="44" idx="0"/>
          </p:cNvCxnSpPr>
          <p:nvPr/>
        </p:nvCxnSpPr>
        <p:spPr>
          <a:xfrm>
            <a:off x="5585158" y="4355299"/>
            <a:ext cx="3728" cy="3700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5FA3F58-8862-561B-1BBF-B48161C85FA3}"/>
              </a:ext>
            </a:extLst>
          </p:cNvPr>
          <p:cNvCxnSpPr>
            <a:cxnSpLocks/>
            <a:stCxn id="44" idx="3"/>
            <a:endCxn id="43" idx="3"/>
          </p:cNvCxnSpPr>
          <p:nvPr/>
        </p:nvCxnSpPr>
        <p:spPr>
          <a:xfrm>
            <a:off x="5761483" y="4894674"/>
            <a:ext cx="787983" cy="670561"/>
          </a:xfrm>
          <a:prstGeom prst="bentConnector3">
            <a:avLst>
              <a:gd name="adj1" fmla="val 12901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9AB6878-CA4D-AF2F-C3DD-FE6BFB067412}"/>
              </a:ext>
            </a:extLst>
          </p:cNvPr>
          <p:cNvSpPr txBox="1"/>
          <p:nvPr/>
        </p:nvSpPr>
        <p:spPr>
          <a:xfrm>
            <a:off x="5741782" y="4871962"/>
            <a:ext cx="13774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100" b="1" dirty="0"/>
              <a:t>Forward port 11434 to localhost 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E8A96E2-D765-2637-98A8-302E080CD617}"/>
              </a:ext>
            </a:extLst>
          </p:cNvPr>
          <p:cNvSpPr txBox="1"/>
          <p:nvPr/>
        </p:nvSpPr>
        <p:spPr>
          <a:xfrm>
            <a:off x="5139891" y="5858240"/>
            <a:ext cx="16014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 err="1"/>
              <a:t>OpenClaw</a:t>
            </a:r>
            <a:r>
              <a:rPr lang="en-SG" sz="1400" b="1" dirty="0"/>
              <a:t> Agent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B6AFD3E-6734-A971-DEDB-5E9A8B3533ED}"/>
              </a:ext>
            </a:extLst>
          </p:cNvPr>
          <p:cNvSpPr/>
          <p:nvPr/>
        </p:nvSpPr>
        <p:spPr>
          <a:xfrm>
            <a:off x="7053085" y="3604068"/>
            <a:ext cx="1193778" cy="7465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9D8A6B3-2666-385A-770A-709C209B0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186" y="3768771"/>
            <a:ext cx="368410" cy="361325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921E2381-7BDD-6C72-5C2A-A79A0C021D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0626" y="3757492"/>
            <a:ext cx="368410" cy="361325"/>
          </a:xfrm>
          <a:prstGeom prst="rect">
            <a:avLst/>
          </a:prstGeom>
        </p:spPr>
      </p:pic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2EA6757-8B06-8859-14CC-0D074E503E01}"/>
              </a:ext>
            </a:extLst>
          </p:cNvPr>
          <p:cNvCxnSpPr>
            <a:cxnSpLocks/>
            <a:stCxn id="38" idx="3"/>
            <a:endCxn id="59" idx="1"/>
          </p:cNvCxnSpPr>
          <p:nvPr/>
        </p:nvCxnSpPr>
        <p:spPr>
          <a:xfrm flipV="1">
            <a:off x="6030424" y="3949434"/>
            <a:ext cx="82776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747CADA-3DE1-A178-CBCF-1C854EB266DB}"/>
              </a:ext>
            </a:extLst>
          </p:cNvPr>
          <p:cNvSpPr txBox="1"/>
          <p:nvPr/>
        </p:nvSpPr>
        <p:spPr>
          <a:xfrm>
            <a:off x="7100279" y="2900141"/>
            <a:ext cx="114592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Gateway or Jump host or firewall</a:t>
            </a:r>
          </a:p>
        </p:txBody>
      </p:sp>
      <p:pic>
        <p:nvPicPr>
          <p:cNvPr id="68" name="Graphic 67" descr="Server with solid fill">
            <a:extLst>
              <a:ext uri="{FF2B5EF4-FFF2-40B4-BE49-F238E27FC236}">
                <a16:creationId xmlns:a16="http://schemas.microsoft.com/office/drawing/2014/main" id="{C95E7E4E-3CBD-739A-DAD4-DD60DB6085A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357629" y="3728185"/>
            <a:ext cx="538098" cy="538098"/>
          </a:xfrm>
          <a:prstGeom prst="rect">
            <a:avLst/>
          </a:prstGeom>
        </p:spPr>
      </p:pic>
      <p:pic>
        <p:nvPicPr>
          <p:cNvPr id="70" name="Graphic 69" descr="Laptop with solid fill">
            <a:extLst>
              <a:ext uri="{FF2B5EF4-FFF2-40B4-BE49-F238E27FC236}">
                <a16:creationId xmlns:a16="http://schemas.microsoft.com/office/drawing/2014/main" id="{4F984744-80DA-3142-869A-B35F20F7A0A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416289" y="2021561"/>
            <a:ext cx="1435131" cy="1435131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04F0F3FB-33FE-6E39-67CD-542393FA1C1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57755" y="2514824"/>
            <a:ext cx="734007" cy="339791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56943F51-D99F-92C3-0850-9105054F5C25}"/>
              </a:ext>
            </a:extLst>
          </p:cNvPr>
          <p:cNvSpPr txBox="1"/>
          <p:nvPr/>
        </p:nvSpPr>
        <p:spPr>
          <a:xfrm>
            <a:off x="5139891" y="1899347"/>
            <a:ext cx="23787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dirty="0"/>
              <a:t>Internal Network User’s working Laptop with </a:t>
            </a:r>
            <a:r>
              <a:rPr lang="en-SG" sz="1200" b="1" dirty="0" err="1"/>
              <a:t>OpenClaw</a:t>
            </a:r>
            <a:r>
              <a:rPr lang="en-SG" sz="1200" b="1" dirty="0"/>
              <a:t> </a:t>
            </a:r>
          </a:p>
        </p:txBody>
      </p:sp>
      <p:pic>
        <p:nvPicPr>
          <p:cNvPr id="74" name="Graphic 73" descr="Wi-Fi with solid fill">
            <a:extLst>
              <a:ext uri="{FF2B5EF4-FFF2-40B4-BE49-F238E27FC236}">
                <a16:creationId xmlns:a16="http://schemas.microsoft.com/office/drawing/2014/main" id="{617181AC-7D86-B815-4414-61D9155A96F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263627" y="3085644"/>
            <a:ext cx="457200" cy="457200"/>
          </a:xfrm>
          <a:prstGeom prst="rect">
            <a:avLst/>
          </a:prstGeom>
        </p:spPr>
      </p:pic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E37F0537-1F58-0CED-94A2-C45631F443E2}"/>
              </a:ext>
            </a:extLst>
          </p:cNvPr>
          <p:cNvCxnSpPr>
            <a:cxnSpLocks/>
            <a:endCxn id="74" idx="2"/>
          </p:cNvCxnSpPr>
          <p:nvPr/>
        </p:nvCxnSpPr>
        <p:spPr>
          <a:xfrm flipV="1">
            <a:off x="6051454" y="3542844"/>
            <a:ext cx="440773" cy="20335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4" name="Graphic 83" descr="Server with solid fill">
            <a:extLst>
              <a:ext uri="{FF2B5EF4-FFF2-40B4-BE49-F238E27FC236}">
                <a16:creationId xmlns:a16="http://schemas.microsoft.com/office/drawing/2014/main" id="{ECE733A4-21EA-1D58-D862-B3853419E28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29174" y="5574601"/>
            <a:ext cx="538098" cy="538098"/>
          </a:xfrm>
          <a:prstGeom prst="rect">
            <a:avLst/>
          </a:prstGeom>
        </p:spPr>
      </p:pic>
      <p:sp>
        <p:nvSpPr>
          <p:cNvPr id="87" name="Cloud 86">
            <a:extLst>
              <a:ext uri="{FF2B5EF4-FFF2-40B4-BE49-F238E27FC236}">
                <a16:creationId xmlns:a16="http://schemas.microsoft.com/office/drawing/2014/main" id="{2EDA8AAC-285D-EE91-ADE4-90E88BEF607B}"/>
              </a:ext>
            </a:extLst>
          </p:cNvPr>
          <p:cNvSpPr/>
          <p:nvPr/>
        </p:nvSpPr>
        <p:spPr>
          <a:xfrm>
            <a:off x="8744554" y="3481940"/>
            <a:ext cx="1414914" cy="912428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b="1" dirty="0"/>
              <a:t>Internet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5A80E07-5071-1335-77BC-617A538306DA}"/>
              </a:ext>
            </a:extLst>
          </p:cNvPr>
          <p:cNvCxnSpPr>
            <a:cxnSpLocks/>
            <a:stCxn id="60" idx="3"/>
            <a:endCxn id="87" idx="2"/>
          </p:cNvCxnSpPr>
          <p:nvPr/>
        </p:nvCxnSpPr>
        <p:spPr>
          <a:xfrm flipV="1">
            <a:off x="8459036" y="3938154"/>
            <a:ext cx="289907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4" name="Graphic 93" descr="Laptop with solid fill">
            <a:extLst>
              <a:ext uri="{FF2B5EF4-FFF2-40B4-BE49-F238E27FC236}">
                <a16:creationId xmlns:a16="http://schemas.microsoft.com/office/drawing/2014/main" id="{C96F39BD-C3C9-A290-64D3-D2950CBC03A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151606" y="1751425"/>
            <a:ext cx="1435131" cy="1435131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314597AD-588F-8692-23B8-59FA9E6C501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93072" y="2244688"/>
            <a:ext cx="734007" cy="339791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CE502BE6-A545-D516-A6C6-1CF01F5F4100}"/>
              </a:ext>
            </a:extLst>
          </p:cNvPr>
          <p:cNvSpPr txBox="1"/>
          <p:nvPr/>
        </p:nvSpPr>
        <p:spPr>
          <a:xfrm>
            <a:off x="7795086" y="1560619"/>
            <a:ext cx="23787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dirty="0"/>
              <a:t>External Network User’s working Laptop with </a:t>
            </a:r>
            <a:r>
              <a:rPr lang="en-SG" sz="1200" b="1" dirty="0" err="1"/>
              <a:t>OpenClaw</a:t>
            </a:r>
            <a:r>
              <a:rPr lang="en-SG" sz="1200" b="1" dirty="0"/>
              <a:t> </a:t>
            </a:r>
          </a:p>
        </p:txBody>
      </p:sp>
      <p:pic>
        <p:nvPicPr>
          <p:cNvPr id="100" name="Picture 99">
            <a:extLst>
              <a:ext uri="{FF2B5EF4-FFF2-40B4-BE49-F238E27FC236}">
                <a16:creationId xmlns:a16="http://schemas.microsoft.com/office/drawing/2014/main" id="{DED6E3C1-0336-EE8D-C309-70B30D3A9C5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23706" y="5002370"/>
            <a:ext cx="538869" cy="737558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45D61394-6394-A6FE-7D4A-1E6BFA3622FF}"/>
              </a:ext>
            </a:extLst>
          </p:cNvPr>
          <p:cNvSpPr txBox="1"/>
          <p:nvPr/>
        </p:nvSpPr>
        <p:spPr>
          <a:xfrm>
            <a:off x="7848066" y="4340501"/>
            <a:ext cx="8216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Port:22</a:t>
            </a:r>
            <a:endParaRPr lang="en-SG" sz="1400" b="1" dirty="0">
              <a:solidFill>
                <a:schemeClr val="accent1"/>
              </a:solidFill>
            </a:endParaRPr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6BEC16E-4CD4-A239-E071-527C9C7D35F3}"/>
              </a:ext>
            </a:extLst>
          </p:cNvPr>
          <p:cNvCxnSpPr>
            <a:cxnSpLocks/>
            <a:endCxn id="100" idx="0"/>
          </p:cNvCxnSpPr>
          <p:nvPr/>
        </p:nvCxnSpPr>
        <p:spPr>
          <a:xfrm>
            <a:off x="9093140" y="4376998"/>
            <a:ext cx="1" cy="6253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F0214270-3016-7121-EFEC-A0CA42D30C00}"/>
              </a:ext>
            </a:extLst>
          </p:cNvPr>
          <p:cNvSpPr txBox="1"/>
          <p:nvPr/>
        </p:nvSpPr>
        <p:spPr>
          <a:xfrm>
            <a:off x="7949341" y="5747124"/>
            <a:ext cx="24774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dirty="0"/>
              <a:t>User’s Mobile App such as WhatsApp, Telegram, WeChat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B8963BE-B0E3-602B-FB27-642D50549A0B}"/>
              </a:ext>
            </a:extLst>
          </p:cNvPr>
          <p:cNvSpPr txBox="1"/>
          <p:nvPr/>
        </p:nvSpPr>
        <p:spPr>
          <a:xfrm>
            <a:off x="803828" y="1966256"/>
            <a:ext cx="20388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6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Internal Network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BD5479A9-934A-2D78-CB37-E79E203F0BA7}"/>
              </a:ext>
            </a:extLst>
          </p:cNvPr>
          <p:cNvCxnSpPr>
            <a:cxnSpLocks/>
          </p:cNvCxnSpPr>
          <p:nvPr/>
        </p:nvCxnSpPr>
        <p:spPr>
          <a:xfrm>
            <a:off x="8869172" y="2953714"/>
            <a:ext cx="0" cy="641473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A609CE49-EDA0-C9A8-EAB8-80B4B64D4117}"/>
              </a:ext>
            </a:extLst>
          </p:cNvPr>
          <p:cNvCxnSpPr>
            <a:cxnSpLocks/>
          </p:cNvCxnSpPr>
          <p:nvPr/>
        </p:nvCxnSpPr>
        <p:spPr>
          <a:xfrm flipH="1">
            <a:off x="8433138" y="3819665"/>
            <a:ext cx="257478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435B0A72-0514-04E5-5E38-6E1612A92544}"/>
              </a:ext>
            </a:extLst>
          </p:cNvPr>
          <p:cNvCxnSpPr>
            <a:cxnSpLocks/>
          </p:cNvCxnSpPr>
          <p:nvPr/>
        </p:nvCxnSpPr>
        <p:spPr>
          <a:xfrm flipH="1">
            <a:off x="6133854" y="4060870"/>
            <a:ext cx="652798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DEC2FB36-3E5A-58AC-28EE-0C46505EEDBB}"/>
              </a:ext>
            </a:extLst>
          </p:cNvPr>
          <p:cNvCxnSpPr>
            <a:cxnSpLocks/>
          </p:cNvCxnSpPr>
          <p:nvPr/>
        </p:nvCxnSpPr>
        <p:spPr>
          <a:xfrm flipV="1">
            <a:off x="5464416" y="4420172"/>
            <a:ext cx="0" cy="258976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33FA6A3A-58FE-2C27-A2DD-5F1592D10719}"/>
              </a:ext>
            </a:extLst>
          </p:cNvPr>
          <p:cNvCxnSpPr>
            <a:cxnSpLocks/>
          </p:cNvCxnSpPr>
          <p:nvPr/>
        </p:nvCxnSpPr>
        <p:spPr>
          <a:xfrm flipH="1">
            <a:off x="4219117" y="4035164"/>
            <a:ext cx="728268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6C69708-3EDC-2858-5AFB-CC0276AA863B}"/>
              </a:ext>
            </a:extLst>
          </p:cNvPr>
          <p:cNvCxnSpPr>
            <a:cxnSpLocks/>
          </p:cNvCxnSpPr>
          <p:nvPr/>
        </p:nvCxnSpPr>
        <p:spPr>
          <a:xfrm flipH="1">
            <a:off x="6314659" y="3219211"/>
            <a:ext cx="0" cy="375976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506D418B-BFA6-73A7-6FC0-42A16B532A53}"/>
              </a:ext>
            </a:extLst>
          </p:cNvPr>
          <p:cNvCxnSpPr>
            <a:cxnSpLocks/>
          </p:cNvCxnSpPr>
          <p:nvPr/>
        </p:nvCxnSpPr>
        <p:spPr>
          <a:xfrm flipH="1" flipV="1">
            <a:off x="6096000" y="3635237"/>
            <a:ext cx="219942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36881F5D-9F48-CA18-EF37-26022C76E32C}"/>
              </a:ext>
            </a:extLst>
          </p:cNvPr>
          <p:cNvCxnSpPr>
            <a:cxnSpLocks/>
          </p:cNvCxnSpPr>
          <p:nvPr/>
        </p:nvCxnSpPr>
        <p:spPr>
          <a:xfrm flipH="1">
            <a:off x="1143258" y="5897744"/>
            <a:ext cx="385466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BC8F2FAA-16CD-8B28-C126-80E01FE0E88F}"/>
              </a:ext>
            </a:extLst>
          </p:cNvPr>
          <p:cNvSpPr txBox="1"/>
          <p:nvPr/>
        </p:nvSpPr>
        <p:spPr>
          <a:xfrm>
            <a:off x="1544230" y="5739928"/>
            <a:ext cx="3042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dirty="0">
                <a:solidFill>
                  <a:schemeClr val="accent2">
                    <a:lumMod val="75000"/>
                  </a:schemeClr>
                </a:solidFill>
              </a:rPr>
              <a:t>Port Forwarded </a:t>
            </a:r>
            <a:r>
              <a:rPr lang="en-SG" sz="1200" b="1" dirty="0" err="1">
                <a:solidFill>
                  <a:schemeClr val="accent2">
                    <a:lumMod val="75000"/>
                  </a:schemeClr>
                </a:solidFill>
              </a:rPr>
              <a:t>OpenClaw</a:t>
            </a:r>
            <a:r>
              <a:rPr lang="en-SG" sz="1200" b="1" dirty="0">
                <a:solidFill>
                  <a:schemeClr val="accent2">
                    <a:lumMod val="75000"/>
                  </a:schemeClr>
                </a:solidFill>
              </a:rPr>
              <a:t> API call to LLM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B96D30-06B5-E99B-A8C0-A8EC424613D7}"/>
              </a:ext>
            </a:extLst>
          </p:cNvPr>
          <p:cNvSpPr txBox="1"/>
          <p:nvPr/>
        </p:nvSpPr>
        <p:spPr>
          <a:xfrm>
            <a:off x="729339" y="654238"/>
            <a:ext cx="10713772" cy="830997"/>
          </a:xfrm>
          <a:prstGeom prst="rect">
            <a:avLst/>
          </a:prstGeom>
          <a:solidFill>
            <a:schemeClr val="accent6">
              <a:lumMod val="50000"/>
            </a:schemeClr>
          </a:solidFill>
          <a:ln w="19050">
            <a:solidFill>
              <a:schemeClr val="tx1"/>
            </a:solidFill>
            <a:prstDash val="sysDash"/>
          </a:ln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Deploy Multiple </a:t>
            </a:r>
            <a:r>
              <a:rPr lang="en-US" sz="2400" b="1" dirty="0" err="1">
                <a:solidFill>
                  <a:schemeClr val="bg1"/>
                </a:solidFill>
              </a:rPr>
              <a:t>OpenClaw</a:t>
            </a:r>
            <a:r>
              <a:rPr lang="en-US" sz="2400" b="1" dirty="0">
                <a:solidFill>
                  <a:schemeClr val="bg1"/>
                </a:solidFill>
              </a:rPr>
              <a:t> AI Assistants Cluster With the Local GPU Server/Laptop Running LLM Model Such As Qwen3.5 or DeepSeek-r1</a:t>
            </a:r>
            <a:endParaRPr lang="en-SG" sz="2400" b="1" dirty="0">
              <a:solidFill>
                <a:schemeClr val="bg1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BBDE53-88D0-3E6F-F9A7-94448318BCA2}"/>
              </a:ext>
            </a:extLst>
          </p:cNvPr>
          <p:cNvCxnSpPr>
            <a:cxnSpLocks/>
          </p:cNvCxnSpPr>
          <p:nvPr/>
        </p:nvCxnSpPr>
        <p:spPr>
          <a:xfrm>
            <a:off x="9089723" y="2930656"/>
            <a:ext cx="1" cy="6253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9B4CD888-CACF-2F77-C016-77AA40107995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2885" y="4591118"/>
            <a:ext cx="2049779" cy="103718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A8DD870-F2C8-6F87-0A31-7B7DD475402B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6864" y="2103593"/>
            <a:ext cx="1871199" cy="119458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812D083-C284-0005-CB14-E1C11E1504AB}"/>
              </a:ext>
            </a:extLst>
          </p:cNvPr>
          <p:cNvCxnSpPr/>
          <p:nvPr/>
        </p:nvCxnSpPr>
        <p:spPr>
          <a:xfrm flipH="1">
            <a:off x="9279064" y="2514824"/>
            <a:ext cx="307673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Graphic 24" descr="User with solid fill">
            <a:extLst>
              <a:ext uri="{FF2B5EF4-FFF2-40B4-BE49-F238E27FC236}">
                <a16:creationId xmlns:a16="http://schemas.microsoft.com/office/drawing/2014/main" id="{FA20A761-4628-6B62-A5C9-04B9FF445729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916259" y="3168651"/>
            <a:ext cx="683583" cy="683583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4306B0-B4FD-CC35-ECA9-4B95BEDE327D}"/>
              </a:ext>
            </a:extLst>
          </p:cNvPr>
          <p:cNvCxnSpPr/>
          <p:nvPr/>
        </p:nvCxnSpPr>
        <p:spPr>
          <a:xfrm flipH="1">
            <a:off x="9144338" y="5329430"/>
            <a:ext cx="307673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D85B8DA-4F78-8F23-3677-35A7982E8C5D}"/>
              </a:ext>
            </a:extLst>
          </p:cNvPr>
          <p:cNvSpPr txBox="1"/>
          <p:nvPr/>
        </p:nvSpPr>
        <p:spPr>
          <a:xfrm>
            <a:off x="10426763" y="1853180"/>
            <a:ext cx="10418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We</a:t>
            </a:r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b UI User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3C080F2-2D30-D843-E6A0-893C96B88B17}"/>
              </a:ext>
            </a:extLst>
          </p:cNvPr>
          <p:cNvSpPr txBox="1"/>
          <p:nvPr/>
        </p:nvSpPr>
        <p:spPr>
          <a:xfrm>
            <a:off x="10309769" y="4294165"/>
            <a:ext cx="13926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Telegram User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01" name="Graphic 100" descr="User with solid fill">
            <a:extLst>
              <a:ext uri="{FF2B5EF4-FFF2-40B4-BE49-F238E27FC236}">
                <a16:creationId xmlns:a16="http://schemas.microsoft.com/office/drawing/2014/main" id="{8F58717C-4321-BE93-9F22-A62030B89F00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972553" y="5511172"/>
            <a:ext cx="683583" cy="68358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26C64FB-D472-B95C-3DE6-87FF02504B8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39051" y="766548"/>
            <a:ext cx="1392665" cy="644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8056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CC5D2E-DADF-8393-043C-8850DEC8B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5047" y="2452809"/>
            <a:ext cx="5361905" cy="19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2582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184</Words>
  <Application>Microsoft Office PowerPoint</Application>
  <PresentationFormat>Widescreen</PresentationFormat>
  <Paragraphs>39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20</cp:revision>
  <dcterms:created xsi:type="dcterms:W3CDTF">2026-03-12T08:34:50Z</dcterms:created>
  <dcterms:modified xsi:type="dcterms:W3CDTF">2026-03-16T07:56:31Z</dcterms:modified>
</cp:coreProperties>
</file>